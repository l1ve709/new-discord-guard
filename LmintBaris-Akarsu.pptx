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tmp" ContentType="image/jpe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4630400" cy="8229600"/>
  <p:notesSz cx="8229600" cy="14630400"/>
  <p:embeddedFontLst>
    <p:embeddedFont>
      <p:font typeface="Mukta Light" panose="020B0000000000000000" charset="0"/>
      <p:regular r:id="rId10"/>
    </p:embeddedFont>
    <p:embeddedFont>
      <p:font typeface="Prompt Medium" pitchFamily="2" charset="-34"/>
      <p:regular r:id="rId11"/>
    </p:embeddedFont>
  </p:embeddedFontLst>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presProps" Target="pres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font" Target="fonts/font2.fntdata" /><Relationship Id="rId5" Type="http://schemas.openxmlformats.org/officeDocument/2006/relationships/slide" Target="slides/slide4.xml" /><Relationship Id="rId15" Type="http://schemas.openxmlformats.org/officeDocument/2006/relationships/tableStyles" Target="tableStyles.xml" /><Relationship Id="rId10" Type="http://schemas.openxmlformats.org/officeDocument/2006/relationships/font" Target="fonts/font1.fntdata" /><Relationship Id="rId4" Type="http://schemas.openxmlformats.org/officeDocument/2006/relationships/slide" Target="slides/slide3.xml" /><Relationship Id="rId9" Type="http://schemas.openxmlformats.org/officeDocument/2006/relationships/notesMaster" Target="notesMasters/notesMaster1.xml" /><Relationship Id="rId14"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3565525" cy="733425"/>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4660900" y="0"/>
            <a:ext cx="3567113" cy="733425"/>
          </a:xfrm>
          <a:prstGeom prst="rect">
            <a:avLst/>
          </a:prstGeom>
        </p:spPr>
        <p:txBody>
          <a:bodyPr vert="horz" lIns="91440" tIns="45720" rIns="91440" bIns="45720" rtlCol="0"/>
          <a:lstStyle>
            <a:lvl1pPr algn="r">
              <a:defRPr sz="1200"/>
            </a:lvl1pPr>
          </a:lstStyle>
          <a:p>
            <a:fld id="{23228D00-9933-C24B-A5D1-3F760C756936}" type="datetimeFigureOut">
              <a:rPr lang="tr-TR" smtClean="0"/>
              <a:t>26.03.2026</a:t>
            </a:fld>
            <a:endParaRPr lang="tr-TR"/>
          </a:p>
        </p:txBody>
      </p:sp>
      <p:sp>
        <p:nvSpPr>
          <p:cNvPr id="4" name="Slayt Resmi Yer Tutucusu 3"/>
          <p:cNvSpPr>
            <a:spLocks noGrp="1" noRot="1" noChangeAspect="1"/>
          </p:cNvSpPr>
          <p:nvPr>
            <p:ph type="sldImg" idx="2"/>
          </p:nvPr>
        </p:nvSpPr>
        <p:spPr>
          <a:xfrm>
            <a:off x="-273050" y="1828800"/>
            <a:ext cx="8775700" cy="4937125"/>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822325" y="7040563"/>
            <a:ext cx="6584950" cy="5761037"/>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13896975"/>
            <a:ext cx="3565525" cy="733425"/>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4660900" y="13896975"/>
            <a:ext cx="3567113" cy="733425"/>
          </a:xfrm>
          <a:prstGeom prst="rect">
            <a:avLst/>
          </a:prstGeom>
        </p:spPr>
        <p:txBody>
          <a:bodyPr vert="horz" lIns="91440" tIns="45720" rIns="91440" bIns="45720" rtlCol="0" anchor="b"/>
          <a:lstStyle>
            <a:lvl1pPr algn="r">
              <a:defRPr sz="1200"/>
            </a:lvl1pPr>
          </a:lstStyle>
          <a:p>
            <a:fld id="{C0429C4A-66A2-D34E-849C-26531115C75B}" type="slidenum">
              <a:rPr lang="tr-TR" smtClean="0"/>
              <a:t>‹#›</a:t>
            </a:fld>
            <a:endParaRPr lang="tr-TR"/>
          </a:p>
        </p:txBody>
      </p:sp>
    </p:spTree>
    <p:extLst>
      <p:ext uri="{BB962C8B-B14F-4D97-AF65-F5344CB8AC3E}">
        <p14:creationId xmlns:p14="http://schemas.microsoft.com/office/powerpoint/2010/main" val="10741275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 /><Relationship Id="rId2" Type="http://schemas.openxmlformats.org/officeDocument/2006/relationships/image" Target="../media/image1.png" /><Relationship Id="rId1" Type="http://schemas.openxmlformats.org/officeDocument/2006/relationships/slideMaster" Target="../slideMasters/slideMaster1.xml" /><Relationship Id="rId4" Type="http://schemas.openxmlformats.org/officeDocument/2006/relationships/image" Target="../media/image2.png" /></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 /><Relationship Id="rId2" Type="http://schemas.openxmlformats.org/officeDocument/2006/relationships/image" Target="../media/image1.png" /><Relationship Id="rId1" Type="http://schemas.openxmlformats.org/officeDocument/2006/relationships/slideMaster" Target="../slideMasters/slideMaster1.xml" /><Relationship Id="rId4" Type="http://schemas.openxmlformats.org/officeDocument/2006/relationships/image" Target="../media/image2.png" /></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 /><Relationship Id="rId2" Type="http://schemas.openxmlformats.org/officeDocument/2006/relationships/image" Target="../media/image1.png" /><Relationship Id="rId1" Type="http://schemas.openxmlformats.org/officeDocument/2006/relationships/slideMaster" Target="../slideMasters/slideMaster1.xml" /><Relationship Id="rId4" Type="http://schemas.openxmlformats.org/officeDocument/2006/relationships/image" Target="../media/image2.png" /></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 /><Relationship Id="rId2" Type="http://schemas.openxmlformats.org/officeDocument/2006/relationships/image" Target="../media/image1.png" /><Relationship Id="rId1" Type="http://schemas.openxmlformats.org/officeDocument/2006/relationships/slideMaster" Target="../slideMasters/slideMaster1.xml" /><Relationship Id="rId4" Type="http://schemas.openxmlformats.org/officeDocument/2006/relationships/image" Target="../media/image2.png" /></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 /><Relationship Id="rId2" Type="http://schemas.openxmlformats.org/officeDocument/2006/relationships/image" Target="../media/image1.png" /><Relationship Id="rId1" Type="http://schemas.openxmlformats.org/officeDocument/2006/relationships/slideMaster" Target="../slideMasters/slideMaster1.xml" /><Relationship Id="rId4" Type="http://schemas.openxmlformats.org/officeDocument/2006/relationships/image" Target="../media/image2.png" /></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 /><Relationship Id="rId2" Type="http://schemas.openxmlformats.org/officeDocument/2006/relationships/image" Target="../media/image1.png" /><Relationship Id="rId1" Type="http://schemas.openxmlformats.org/officeDocument/2006/relationships/slideMaster" Target="../slideMasters/slideMaster1.xml" /><Relationship Id="rId4" Type="http://schemas.openxmlformats.org/officeDocument/2006/relationships/image" Target="../media/image2.png" /></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 /><Relationship Id="rId2" Type="http://schemas.openxmlformats.org/officeDocument/2006/relationships/image" Target="../media/image1.png" /><Relationship Id="rId1" Type="http://schemas.openxmlformats.org/officeDocument/2006/relationships/slideMaster" Target="../slideMasters/slideMaster1.xml" /><Relationship Id="rId4" Type="http://schemas.openxmlformats.org/officeDocument/2006/relationships/image" Target="../media/image2.png"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5" Type="http://schemas.openxmlformats.org/officeDocument/2006/relationships/slideLayout" Target="../slideLayouts/slideLayout5.xml" /><Relationship Id="rId4" Type="http://schemas.openxmlformats.org/officeDocument/2006/relationships/slideLayout" Target="../slideLayouts/slideLayout4.xml" /><Relationship Id="rId9"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tmp" /><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3" Type="http://schemas.openxmlformats.org/officeDocument/2006/relationships/image" Target="../media/image4.jpeg" /><Relationship Id="rId2" Type="http://schemas.openxmlformats.org/officeDocument/2006/relationships/notesSlide" Target="../notesSlides/notesSlide2.xml" /><Relationship Id="rId1" Type="http://schemas.openxmlformats.org/officeDocument/2006/relationships/slideLayout" Target="../slideLayouts/slideLayout3.xml" /></Relationships>
</file>

<file path=ppt/slides/_rels/slide3.xml.rels><?xml version="1.0" encoding="UTF-8" standalone="yes"?>
<Relationships xmlns="http://schemas.openxmlformats.org/package/2006/relationships"><Relationship Id="rId3" Type="http://schemas.openxmlformats.org/officeDocument/2006/relationships/image" Target="../media/image5.tmp" /><Relationship Id="rId7" Type="http://schemas.openxmlformats.org/officeDocument/2006/relationships/image" Target="../media/image4.jpeg" /><Relationship Id="rId2" Type="http://schemas.openxmlformats.org/officeDocument/2006/relationships/notesSlide" Target="../notesSlides/notesSlide3.xml" /><Relationship Id="rId1" Type="http://schemas.openxmlformats.org/officeDocument/2006/relationships/slideLayout" Target="../slideLayouts/slideLayout4.xml" /><Relationship Id="rId6" Type="http://schemas.openxmlformats.org/officeDocument/2006/relationships/image" Target="../media/image8.svg" /><Relationship Id="rId5" Type="http://schemas.openxmlformats.org/officeDocument/2006/relationships/image" Target="../media/image7.svg" /><Relationship Id="rId4" Type="http://schemas.openxmlformats.org/officeDocument/2006/relationships/image" Target="../media/image6.svg" /></Relationships>
</file>

<file path=ppt/slides/_rels/slide4.xml.rels><?xml version="1.0" encoding="UTF-8" standalone="yes"?>
<Relationships xmlns="http://schemas.openxmlformats.org/package/2006/relationships"><Relationship Id="rId3" Type="http://schemas.openxmlformats.org/officeDocument/2006/relationships/image" Target="../media/image9.tmp" /><Relationship Id="rId2" Type="http://schemas.openxmlformats.org/officeDocument/2006/relationships/notesSlide" Target="../notesSlides/notesSlide4.xml" /><Relationship Id="rId1" Type="http://schemas.openxmlformats.org/officeDocument/2006/relationships/slideLayout" Target="../slideLayouts/slideLayout5.xml" /><Relationship Id="rId5" Type="http://schemas.openxmlformats.org/officeDocument/2006/relationships/image" Target="../media/image4.jpeg" /><Relationship Id="rId4" Type="http://schemas.openxmlformats.org/officeDocument/2006/relationships/image" Target="../media/image10.png" /></Relationships>
</file>

<file path=ppt/slides/_rels/slide5.xml.rels><?xml version="1.0" encoding="UTF-8" standalone="yes"?>
<Relationships xmlns="http://schemas.openxmlformats.org/package/2006/relationships"><Relationship Id="rId3" Type="http://schemas.openxmlformats.org/officeDocument/2006/relationships/image" Target="../media/image11.tmp" /><Relationship Id="rId2" Type="http://schemas.openxmlformats.org/officeDocument/2006/relationships/notesSlide" Target="../notesSlides/notesSlide5.xml" /><Relationship Id="rId1" Type="http://schemas.openxmlformats.org/officeDocument/2006/relationships/slideLayout" Target="../slideLayouts/slideLayout6.xml" /><Relationship Id="rId6" Type="http://schemas.openxmlformats.org/officeDocument/2006/relationships/image" Target="../media/image4.jpeg" /><Relationship Id="rId5" Type="http://schemas.openxmlformats.org/officeDocument/2006/relationships/image" Target="../media/image13.tmp" /><Relationship Id="rId4" Type="http://schemas.openxmlformats.org/officeDocument/2006/relationships/image" Target="../media/image12.tmp" /></Relationships>
</file>

<file path=ppt/slides/_rels/slide6.xml.rels><?xml version="1.0" encoding="UTF-8" standalone="yes"?>
<Relationships xmlns="http://schemas.openxmlformats.org/package/2006/relationships"><Relationship Id="rId3" Type="http://schemas.openxmlformats.org/officeDocument/2006/relationships/image" Target="../media/image14.tmp" /><Relationship Id="rId2" Type="http://schemas.openxmlformats.org/officeDocument/2006/relationships/notesSlide" Target="../notesSlides/notesSlide6.xml" /><Relationship Id="rId1" Type="http://schemas.openxmlformats.org/officeDocument/2006/relationships/slideLayout" Target="../slideLayouts/slideLayout7.xml" /><Relationship Id="rId4" Type="http://schemas.openxmlformats.org/officeDocument/2006/relationships/image" Target="../media/image4.jpeg" /></Relationships>
</file>

<file path=ppt/slides/_rels/slide7.xml.rels><?xml version="1.0" encoding="UTF-8" standalone="yes"?>
<Relationships xmlns="http://schemas.openxmlformats.org/package/2006/relationships"><Relationship Id="rId3" Type="http://schemas.openxmlformats.org/officeDocument/2006/relationships/image" Target="../media/image15.jpeg" /><Relationship Id="rId2" Type="http://schemas.openxmlformats.org/officeDocument/2006/relationships/notesSlide" Target="../notesSlides/notesSlide7.xml" /><Relationship Id="rId1" Type="http://schemas.openxmlformats.org/officeDocument/2006/relationships/slideLayout" Target="../slideLayouts/slideLayout8.xml" /><Relationship Id="rId4" Type="http://schemas.openxmlformats.org/officeDocument/2006/relationships/image" Target="../media/image4.jpeg" /></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9156859" y="0"/>
            <a:ext cx="5460682" cy="8229600"/>
          </a:xfrm>
          <a:prstGeom prst="rect">
            <a:avLst/>
          </a:prstGeom>
        </p:spPr>
      </p:pic>
      <p:sp>
        <p:nvSpPr>
          <p:cNvPr id="3" name="Text 0"/>
          <p:cNvSpPr/>
          <p:nvPr/>
        </p:nvSpPr>
        <p:spPr>
          <a:xfrm>
            <a:off x="881063" y="3467338"/>
            <a:ext cx="4895374" cy="611981"/>
          </a:xfrm>
          <a:prstGeom prst="rect">
            <a:avLst/>
          </a:prstGeom>
          <a:noFill/>
          <a:ln/>
        </p:spPr>
        <p:txBody>
          <a:bodyPr wrap="none" lIns="0" tIns="0" rIns="0" bIns="0" rtlCol="0" anchor="t"/>
          <a:lstStyle/>
          <a:p>
            <a:pPr marL="0" indent="0" algn="l">
              <a:lnSpc>
                <a:spcPts val="4800"/>
              </a:lnSpc>
              <a:buNone/>
            </a:pPr>
            <a:r>
              <a:rPr lang="en-US" sz="3850" dirty="0">
                <a:solidFill>
                  <a:srgbClr val="C6BFEE"/>
                </a:solidFill>
                <a:latin typeface="Prompt Medium" pitchFamily="34" charset="0"/>
                <a:ea typeface="Prompt Medium" pitchFamily="34" charset="-122"/>
                <a:cs typeface="Prompt Medium" pitchFamily="34" charset="-120"/>
              </a:rPr>
              <a:t>Barış Akarsu</a:t>
            </a:r>
            <a:endParaRPr lang="en-US" sz="3850" dirty="0"/>
          </a:p>
        </p:txBody>
      </p:sp>
      <p:sp>
        <p:nvSpPr>
          <p:cNvPr id="4" name="Text 1"/>
          <p:cNvSpPr/>
          <p:nvPr/>
        </p:nvSpPr>
        <p:spPr>
          <a:xfrm>
            <a:off x="881063" y="4409718"/>
            <a:ext cx="7381875" cy="352425"/>
          </a:xfrm>
          <a:prstGeom prst="rect">
            <a:avLst/>
          </a:prstGeom>
          <a:noFill/>
          <a:ln/>
        </p:spPr>
        <p:txBody>
          <a:bodyPr wrap="non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Türk müziğinin sevilen sesi ve yetenekli sanatçısı</a:t>
            </a:r>
            <a:endParaRPr lang="en-US" sz="1700" dirty="0"/>
          </a:p>
        </p:txBody>
      </p:sp>
      <p:sp>
        <p:nvSpPr>
          <p:cNvPr id="6" name="Text 1">
            <a:extLst>
              <a:ext uri="{FF2B5EF4-FFF2-40B4-BE49-F238E27FC236}">
                <a16:creationId xmlns:a16="http://schemas.microsoft.com/office/drawing/2014/main" id="{F7ADCF72-C336-30DE-AE2A-51E65F4EE13A}"/>
              </a:ext>
            </a:extLst>
          </p:cNvPr>
          <p:cNvSpPr/>
          <p:nvPr/>
        </p:nvSpPr>
        <p:spPr>
          <a:xfrm>
            <a:off x="457199" y="7573831"/>
            <a:ext cx="7381875" cy="352425"/>
          </a:xfrm>
          <a:prstGeom prst="rect">
            <a:avLst/>
          </a:prstGeom>
          <a:noFill/>
          <a:ln/>
        </p:spPr>
        <p:txBody>
          <a:bodyPr wrap="none" lIns="0" tIns="0" rIns="0" bIns="0" rtlCol="0" anchor="t"/>
          <a:lstStyle/>
          <a:p>
            <a:pPr marL="0" indent="0" algn="l">
              <a:lnSpc>
                <a:spcPts val="2750"/>
              </a:lnSpc>
              <a:buNone/>
            </a:pPr>
            <a:r>
              <a:rPr lang="tr-TR" sz="2400" i="1" dirty="0">
                <a:solidFill>
                  <a:srgbClr val="002060"/>
                </a:solidFill>
                <a:latin typeface="Amasis MT Pro Medium" panose="02040504050005020304" pitchFamily="18" charset="0"/>
                <a:ea typeface="Mukta Light" pitchFamily="34" charset="-122"/>
                <a:cs typeface="Arial Black" panose="020B0604020202020204" pitchFamily="34" charset="0"/>
              </a:rPr>
              <a:t>Ceylin Beren </a:t>
            </a:r>
            <a:r>
              <a:rPr lang="tr-TR" sz="2400" i="1" dirty="0" err="1">
                <a:solidFill>
                  <a:srgbClr val="002060"/>
                </a:solidFill>
                <a:latin typeface="Amasis MT Pro Medium" panose="02040504050005020304" pitchFamily="18" charset="0"/>
                <a:ea typeface="Mukta Light" pitchFamily="34" charset="-122"/>
                <a:cs typeface="Arial Black" panose="020B0604020202020204" pitchFamily="34" charset="0"/>
              </a:rPr>
              <a:t>Çakmakkaya</a:t>
            </a:r>
            <a:r>
              <a:rPr lang="tr-TR" sz="2400" i="1" dirty="0">
                <a:solidFill>
                  <a:srgbClr val="002060"/>
                </a:solidFill>
                <a:latin typeface="Amasis MT Pro Medium" panose="02040504050005020304" pitchFamily="18" charset="0"/>
                <a:ea typeface="Mukta Light" pitchFamily="34" charset="-122"/>
                <a:cs typeface="Arial Black" panose="020B0604020202020204" pitchFamily="34" charset="0"/>
              </a:rPr>
              <a:t> 649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81063" y="2112764"/>
            <a:ext cx="6503075" cy="611981"/>
          </a:xfrm>
          <a:prstGeom prst="rect">
            <a:avLst/>
          </a:prstGeom>
          <a:noFill/>
          <a:ln/>
        </p:spPr>
        <p:txBody>
          <a:bodyPr wrap="none" lIns="0" tIns="0" rIns="0" bIns="0" rtlCol="0" anchor="t"/>
          <a:lstStyle/>
          <a:p>
            <a:pPr marL="0" indent="0" algn="l">
              <a:lnSpc>
                <a:spcPts val="4800"/>
              </a:lnSpc>
              <a:buNone/>
            </a:pPr>
            <a:r>
              <a:rPr lang="en-US" sz="3850" dirty="0">
                <a:solidFill>
                  <a:srgbClr val="C6BFEE"/>
                </a:solidFill>
                <a:latin typeface="Prompt Medium" pitchFamily="34" charset="0"/>
                <a:ea typeface="Prompt Medium" pitchFamily="34" charset="-122"/>
                <a:cs typeface="Prompt Medium" pitchFamily="34" charset="-120"/>
              </a:rPr>
              <a:t>Amasra'dan Başlayan Hayat</a:t>
            </a:r>
            <a:endParaRPr lang="en-US" sz="3850" dirty="0"/>
          </a:p>
        </p:txBody>
      </p:sp>
      <p:sp>
        <p:nvSpPr>
          <p:cNvPr id="3" name="Text 1"/>
          <p:cNvSpPr/>
          <p:nvPr/>
        </p:nvSpPr>
        <p:spPr>
          <a:xfrm>
            <a:off x="881063" y="3253383"/>
            <a:ext cx="7505938" cy="1057275"/>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29 Haziran 1979'da Bartın'ın Amasra ilçesinde dünyaya gelen Barış Akarsu, deniz kıyısındaki bu küçük ilçede çocukluğunu yaşadı. Amasra'nın doğal güzelliği ve huzuru içinde büyüyen Barış, müzikle ilk olarak konserler aracılığıyla tanıştı.</a:t>
            </a:r>
            <a:endParaRPr lang="en-US" sz="1700" dirty="0"/>
          </a:p>
        </p:txBody>
      </p:sp>
      <p:sp>
        <p:nvSpPr>
          <p:cNvPr id="4" name="Text 2"/>
          <p:cNvSpPr/>
          <p:nvPr/>
        </p:nvSpPr>
        <p:spPr>
          <a:xfrm>
            <a:off x="881063" y="4508897"/>
            <a:ext cx="7505938" cy="1409700"/>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Dönemin ünlü rock müzisyenlerinin Amasra'da verdiği konserleri izleyen genç Barış, müziğin büyüsüne kapıldı. Gitar ve mızıkayla başladığı müzik yolculuğu, onun için hayatın anlamı haline geldi. Bu ilk adımlar, gelecekte Türk müziğinin önemli isimlerinden biri olacak sanatçının kariyerinin temelini oluşturdu.</a:t>
            </a:r>
            <a:endParaRPr lang="en-US" sz="1700" dirty="0"/>
          </a:p>
        </p:txBody>
      </p:sp>
      <p:sp>
        <p:nvSpPr>
          <p:cNvPr id="5" name="Shape 3"/>
          <p:cNvSpPr/>
          <p:nvPr/>
        </p:nvSpPr>
        <p:spPr>
          <a:xfrm>
            <a:off x="8773478" y="3055144"/>
            <a:ext cx="5141952" cy="3061692"/>
          </a:xfrm>
          <a:prstGeom prst="roundRect">
            <a:avLst>
              <a:gd name="adj" fmla="val 5181"/>
            </a:avLst>
          </a:prstGeom>
          <a:solidFill>
            <a:srgbClr val="A95B95">
              <a:alpha val="95000"/>
            </a:srgbClr>
          </a:solidFill>
          <a:ln/>
        </p:spPr>
      </p:sp>
      <p:sp>
        <p:nvSpPr>
          <p:cNvPr id="6" name="Text 4"/>
          <p:cNvSpPr/>
          <p:nvPr/>
        </p:nvSpPr>
        <p:spPr>
          <a:xfrm>
            <a:off x="8993743" y="3275409"/>
            <a:ext cx="2447687" cy="305991"/>
          </a:xfrm>
          <a:prstGeom prst="rect">
            <a:avLst/>
          </a:prstGeom>
          <a:noFill/>
          <a:ln/>
        </p:spPr>
        <p:txBody>
          <a:bodyPr wrap="none" lIns="0" tIns="0" rIns="0" bIns="0" rtlCol="0" anchor="t"/>
          <a:lstStyle/>
          <a:p>
            <a:pPr marL="0" indent="0" algn="l">
              <a:lnSpc>
                <a:spcPts val="2400"/>
              </a:lnSpc>
              <a:buNone/>
            </a:pPr>
            <a:r>
              <a:rPr lang="en-US" sz="1900" dirty="0">
                <a:solidFill>
                  <a:srgbClr val="000000"/>
                </a:solidFill>
                <a:latin typeface="Prompt Medium" pitchFamily="34" charset="0"/>
                <a:ea typeface="Prompt Medium" pitchFamily="34" charset="-122"/>
                <a:cs typeface="Prompt Medium" pitchFamily="34" charset="-120"/>
              </a:rPr>
              <a:t>Doğum Günü</a:t>
            </a:r>
            <a:endParaRPr lang="en-US" sz="1900" dirty="0"/>
          </a:p>
        </p:txBody>
      </p:sp>
      <p:sp>
        <p:nvSpPr>
          <p:cNvPr id="7" name="Text 5"/>
          <p:cNvSpPr/>
          <p:nvPr/>
        </p:nvSpPr>
        <p:spPr>
          <a:xfrm>
            <a:off x="8993743" y="3801666"/>
            <a:ext cx="4701421" cy="352425"/>
          </a:xfrm>
          <a:prstGeom prst="rect">
            <a:avLst/>
          </a:prstGeom>
          <a:noFill/>
          <a:ln/>
        </p:spPr>
        <p:txBody>
          <a:bodyPr wrap="none" lIns="0" tIns="0" rIns="0" bIns="0" rtlCol="0" anchor="t"/>
          <a:lstStyle/>
          <a:p>
            <a:pPr marL="0" indent="0" algn="l">
              <a:lnSpc>
                <a:spcPts val="2750"/>
              </a:lnSpc>
              <a:buNone/>
            </a:pPr>
            <a:r>
              <a:rPr lang="en-US" sz="1700" dirty="0">
                <a:solidFill>
                  <a:srgbClr val="000000"/>
                </a:solidFill>
                <a:latin typeface="Mukta Light" pitchFamily="34" charset="0"/>
                <a:ea typeface="Mukta Light" pitchFamily="34" charset="-122"/>
                <a:cs typeface="Mukta Light" pitchFamily="34" charset="-120"/>
              </a:rPr>
              <a:t>29 Haziran 1979</a:t>
            </a:r>
            <a:endParaRPr lang="en-US" sz="1700" dirty="0"/>
          </a:p>
        </p:txBody>
      </p:sp>
      <p:sp>
        <p:nvSpPr>
          <p:cNvPr id="8" name="Text 6"/>
          <p:cNvSpPr/>
          <p:nvPr/>
        </p:nvSpPr>
        <p:spPr>
          <a:xfrm>
            <a:off x="8993743" y="4374356"/>
            <a:ext cx="2447687" cy="305991"/>
          </a:xfrm>
          <a:prstGeom prst="rect">
            <a:avLst/>
          </a:prstGeom>
          <a:noFill/>
          <a:ln/>
        </p:spPr>
        <p:txBody>
          <a:bodyPr wrap="none" lIns="0" tIns="0" rIns="0" bIns="0" rtlCol="0" anchor="t"/>
          <a:lstStyle/>
          <a:p>
            <a:pPr marL="0" indent="0" algn="l">
              <a:lnSpc>
                <a:spcPts val="2400"/>
              </a:lnSpc>
              <a:buNone/>
            </a:pPr>
            <a:r>
              <a:rPr lang="en-US" sz="1900" dirty="0">
                <a:solidFill>
                  <a:srgbClr val="000000"/>
                </a:solidFill>
                <a:latin typeface="Prompt Medium" pitchFamily="34" charset="0"/>
                <a:ea typeface="Prompt Medium" pitchFamily="34" charset="-122"/>
                <a:cs typeface="Prompt Medium" pitchFamily="34" charset="-120"/>
              </a:rPr>
              <a:t>Doğduğu Yer</a:t>
            </a:r>
            <a:endParaRPr lang="en-US" sz="1900" dirty="0"/>
          </a:p>
        </p:txBody>
      </p:sp>
      <p:sp>
        <p:nvSpPr>
          <p:cNvPr id="9" name="Text 7"/>
          <p:cNvSpPr/>
          <p:nvPr/>
        </p:nvSpPr>
        <p:spPr>
          <a:xfrm>
            <a:off x="8993743" y="4900613"/>
            <a:ext cx="4701421" cy="352425"/>
          </a:xfrm>
          <a:prstGeom prst="rect">
            <a:avLst/>
          </a:prstGeom>
          <a:noFill/>
          <a:ln/>
        </p:spPr>
        <p:txBody>
          <a:bodyPr wrap="none" lIns="0" tIns="0" rIns="0" bIns="0" rtlCol="0" anchor="t"/>
          <a:lstStyle/>
          <a:p>
            <a:pPr marL="0" indent="0" algn="l">
              <a:lnSpc>
                <a:spcPts val="2750"/>
              </a:lnSpc>
              <a:buNone/>
            </a:pPr>
            <a:r>
              <a:rPr lang="en-US" sz="1700" dirty="0">
                <a:solidFill>
                  <a:srgbClr val="000000"/>
                </a:solidFill>
                <a:latin typeface="Mukta Light" pitchFamily="34" charset="0"/>
                <a:ea typeface="Mukta Light" pitchFamily="34" charset="-122"/>
                <a:cs typeface="Mukta Light" pitchFamily="34" charset="-120"/>
              </a:rPr>
              <a:t>Amasra, Bartın</a:t>
            </a:r>
            <a:endParaRPr lang="en-US" sz="1700" dirty="0"/>
          </a:p>
        </p:txBody>
      </p:sp>
      <p:pic>
        <p:nvPicPr>
          <p:cNvPr id="10" name="Resim 9">
            <a:extLst>
              <a:ext uri="{FF2B5EF4-FFF2-40B4-BE49-F238E27FC236}">
                <a16:creationId xmlns:a16="http://schemas.microsoft.com/office/drawing/2014/main" id="{3E2458EB-7D9F-69EC-18F0-A858BC8C560B}"/>
              </a:ext>
            </a:extLst>
          </p:cNvPr>
          <p:cNvPicPr>
            <a:picLocks noChangeAspect="1"/>
          </p:cNvPicPr>
          <p:nvPr/>
        </p:nvPicPr>
        <p:blipFill>
          <a:blip r:embed="rId3"/>
          <a:stretch>
            <a:fillRect/>
          </a:stretch>
        </p:blipFill>
        <p:spPr>
          <a:xfrm flipH="1">
            <a:off x="12859656" y="7374066"/>
            <a:ext cx="1649961" cy="85553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9144000" y="1824228"/>
            <a:ext cx="5486400" cy="4581144"/>
          </a:xfrm>
          <a:prstGeom prst="rect">
            <a:avLst/>
          </a:prstGeom>
        </p:spPr>
      </p:pic>
      <p:sp>
        <p:nvSpPr>
          <p:cNvPr id="3" name="Text 0"/>
          <p:cNvSpPr/>
          <p:nvPr/>
        </p:nvSpPr>
        <p:spPr>
          <a:xfrm>
            <a:off x="814745" y="932259"/>
            <a:ext cx="7066240" cy="565785"/>
          </a:xfrm>
          <a:prstGeom prst="rect">
            <a:avLst/>
          </a:prstGeom>
          <a:noFill/>
          <a:ln/>
        </p:spPr>
        <p:txBody>
          <a:bodyPr wrap="none" lIns="0" tIns="0" rIns="0" bIns="0" rtlCol="0" anchor="t"/>
          <a:lstStyle/>
          <a:p>
            <a:pPr marL="0" indent="0" algn="l">
              <a:lnSpc>
                <a:spcPts val="4450"/>
              </a:lnSpc>
              <a:buNone/>
            </a:pPr>
            <a:r>
              <a:rPr lang="en-US" sz="3550" dirty="0">
                <a:solidFill>
                  <a:srgbClr val="C6BFEE"/>
                </a:solidFill>
                <a:latin typeface="Prompt Medium" pitchFamily="34" charset="0"/>
                <a:ea typeface="Prompt Medium" pitchFamily="34" charset="-122"/>
                <a:cs typeface="Prompt Medium" pitchFamily="34" charset="-120"/>
              </a:rPr>
              <a:t>Barlarda Solist Olarak Keşfediliş</a:t>
            </a:r>
            <a:endParaRPr lang="en-US" sz="3550" dirty="0"/>
          </a:p>
        </p:txBody>
      </p:sp>
      <p:sp>
        <p:nvSpPr>
          <p:cNvPr id="4" name="Text 1"/>
          <p:cNvSpPr/>
          <p:nvPr/>
        </p:nvSpPr>
        <p:spPr>
          <a:xfrm>
            <a:off x="814745" y="1780461"/>
            <a:ext cx="7514511" cy="940832"/>
          </a:xfrm>
          <a:prstGeom prst="rect">
            <a:avLst/>
          </a:prstGeom>
          <a:noFill/>
          <a:ln/>
        </p:spPr>
        <p:txBody>
          <a:bodyPr wrap="square" lIns="0" tIns="0" rIns="0" bIns="0" rtlCol="0" anchor="t"/>
          <a:lstStyle/>
          <a:p>
            <a:pPr marL="0" indent="0" algn="l">
              <a:lnSpc>
                <a:spcPts val="2450"/>
              </a:lnSpc>
              <a:buNone/>
            </a:pPr>
            <a:r>
              <a:rPr lang="en-US" sz="1600" dirty="0">
                <a:solidFill>
                  <a:srgbClr val="DAD8E9"/>
                </a:solidFill>
                <a:latin typeface="Mukta Light" pitchFamily="34" charset="0"/>
                <a:ea typeface="Mukta Light" pitchFamily="34" charset="-122"/>
                <a:cs typeface="Mukta Light" pitchFamily="34" charset="-120"/>
              </a:rPr>
              <a:t>Liseyi bitirdikten sonra Ankara'ya taşınan Barış Akarsu, geçimini sağlamak için barmenlik ve garsonluk yaptı. Ancak müzik asla ikinci planda kalmadı. Çalıştığı barlarda fırsat buldukça sahneye çıkıyor, kendi şarkılarını seslendiriyordu.</a:t>
            </a:r>
            <a:endParaRPr lang="en-US" sz="1600" dirty="0"/>
          </a:p>
        </p:txBody>
      </p:sp>
      <p:sp>
        <p:nvSpPr>
          <p:cNvPr id="5" name="Shape 2"/>
          <p:cNvSpPr/>
          <p:nvPr/>
        </p:nvSpPr>
        <p:spPr>
          <a:xfrm>
            <a:off x="814745" y="2933105"/>
            <a:ext cx="3663077" cy="2244804"/>
          </a:xfrm>
          <a:prstGeom prst="roundRect">
            <a:avLst>
              <a:gd name="adj" fmla="val 3811"/>
            </a:avLst>
          </a:prstGeom>
          <a:solidFill>
            <a:srgbClr val="542C49"/>
          </a:solidFill>
          <a:ln w="7620">
            <a:solidFill>
              <a:srgbClr val="6D4562"/>
            </a:solidFill>
            <a:prstDash val="solid"/>
          </a:ln>
        </p:spPr>
      </p:sp>
      <p:sp>
        <p:nvSpPr>
          <p:cNvPr id="6" name="Shape 3"/>
          <p:cNvSpPr/>
          <p:nvPr/>
        </p:nvSpPr>
        <p:spPr>
          <a:xfrm>
            <a:off x="1025962" y="3144322"/>
            <a:ext cx="611029" cy="611029"/>
          </a:xfrm>
          <a:prstGeom prst="roundRect">
            <a:avLst>
              <a:gd name="adj" fmla="val 14963423"/>
            </a:avLst>
          </a:prstGeom>
          <a:solidFill>
            <a:srgbClr val="A95B95"/>
          </a:solidFill>
          <a:ln/>
        </p:spPr>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93959" y="3312319"/>
            <a:ext cx="274915" cy="274915"/>
          </a:xfrm>
          <a:prstGeom prst="rect">
            <a:avLst/>
          </a:prstGeom>
        </p:spPr>
      </p:pic>
      <p:sp>
        <p:nvSpPr>
          <p:cNvPr id="8" name="Text 4"/>
          <p:cNvSpPr/>
          <p:nvPr/>
        </p:nvSpPr>
        <p:spPr>
          <a:xfrm>
            <a:off x="1025962" y="3943588"/>
            <a:ext cx="2466499" cy="282893"/>
          </a:xfrm>
          <a:prstGeom prst="rect">
            <a:avLst/>
          </a:prstGeom>
          <a:noFill/>
          <a:ln/>
        </p:spPr>
        <p:txBody>
          <a:bodyPr wrap="none" lIns="0" tIns="0" rIns="0" bIns="0" rtlCol="0" anchor="t"/>
          <a:lstStyle/>
          <a:p>
            <a:pPr marL="0" indent="0" algn="l">
              <a:lnSpc>
                <a:spcPts val="2200"/>
              </a:lnSpc>
              <a:buNone/>
            </a:pPr>
            <a:r>
              <a:rPr lang="en-US" sz="1750" dirty="0">
                <a:solidFill>
                  <a:srgbClr val="DAD8E9"/>
                </a:solidFill>
                <a:latin typeface="Prompt Medium" pitchFamily="34" charset="0"/>
                <a:ea typeface="Prompt Medium" pitchFamily="34" charset="-122"/>
                <a:cs typeface="Prompt Medium" pitchFamily="34" charset="-120"/>
              </a:rPr>
              <a:t>Ankara'da Bar Kariyeri</a:t>
            </a:r>
            <a:endParaRPr lang="en-US" sz="1750" dirty="0"/>
          </a:p>
        </p:txBody>
      </p:sp>
      <p:sp>
        <p:nvSpPr>
          <p:cNvPr id="9" name="Text 5"/>
          <p:cNvSpPr/>
          <p:nvPr/>
        </p:nvSpPr>
        <p:spPr>
          <a:xfrm>
            <a:off x="1025962" y="4339471"/>
            <a:ext cx="3240643" cy="313611"/>
          </a:xfrm>
          <a:prstGeom prst="rect">
            <a:avLst/>
          </a:prstGeom>
          <a:noFill/>
          <a:ln/>
        </p:spPr>
        <p:txBody>
          <a:bodyPr wrap="none" lIns="0" tIns="0" rIns="0" bIns="0" rtlCol="0" anchor="t"/>
          <a:lstStyle/>
          <a:p>
            <a:pPr marL="0" indent="0" algn="l">
              <a:lnSpc>
                <a:spcPts val="2450"/>
              </a:lnSpc>
              <a:buNone/>
            </a:pPr>
            <a:r>
              <a:rPr lang="en-US" sz="1600" dirty="0">
                <a:solidFill>
                  <a:srgbClr val="DAD8E9"/>
                </a:solidFill>
                <a:latin typeface="Mukta Light" pitchFamily="34" charset="0"/>
                <a:ea typeface="Mukta Light" pitchFamily="34" charset="-122"/>
                <a:cs typeface="Mukta Light" pitchFamily="34" charset="-120"/>
              </a:rPr>
              <a:t>Barmenlik yaparken müzik tutkusu</a:t>
            </a:r>
            <a:endParaRPr lang="en-US" sz="1600" dirty="0"/>
          </a:p>
        </p:txBody>
      </p:sp>
      <p:sp>
        <p:nvSpPr>
          <p:cNvPr id="10" name="Shape 6"/>
          <p:cNvSpPr/>
          <p:nvPr/>
        </p:nvSpPr>
        <p:spPr>
          <a:xfrm>
            <a:off x="4666059" y="2933105"/>
            <a:ext cx="3663196" cy="2244804"/>
          </a:xfrm>
          <a:prstGeom prst="roundRect">
            <a:avLst>
              <a:gd name="adj" fmla="val 3811"/>
            </a:avLst>
          </a:prstGeom>
          <a:solidFill>
            <a:srgbClr val="542C49"/>
          </a:solidFill>
          <a:ln w="7620">
            <a:solidFill>
              <a:srgbClr val="6D4562"/>
            </a:solidFill>
            <a:prstDash val="solid"/>
          </a:ln>
        </p:spPr>
      </p:sp>
      <p:sp>
        <p:nvSpPr>
          <p:cNvPr id="11" name="Shape 7"/>
          <p:cNvSpPr/>
          <p:nvPr/>
        </p:nvSpPr>
        <p:spPr>
          <a:xfrm>
            <a:off x="4877276" y="3144322"/>
            <a:ext cx="611029" cy="611029"/>
          </a:xfrm>
          <a:prstGeom prst="roundRect">
            <a:avLst>
              <a:gd name="adj" fmla="val 14963423"/>
            </a:avLst>
          </a:prstGeom>
          <a:solidFill>
            <a:srgbClr val="A95B95"/>
          </a:solidFill>
          <a:ln/>
        </p:spPr>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45273" y="3312319"/>
            <a:ext cx="274915" cy="274915"/>
          </a:xfrm>
          <a:prstGeom prst="rect">
            <a:avLst/>
          </a:prstGeom>
        </p:spPr>
      </p:pic>
      <p:sp>
        <p:nvSpPr>
          <p:cNvPr id="13" name="Text 8"/>
          <p:cNvSpPr/>
          <p:nvPr/>
        </p:nvSpPr>
        <p:spPr>
          <a:xfrm>
            <a:off x="4877276" y="3943588"/>
            <a:ext cx="2263259" cy="282893"/>
          </a:xfrm>
          <a:prstGeom prst="rect">
            <a:avLst/>
          </a:prstGeom>
          <a:noFill/>
          <a:ln/>
        </p:spPr>
        <p:txBody>
          <a:bodyPr wrap="none" lIns="0" tIns="0" rIns="0" bIns="0" rtlCol="0" anchor="t"/>
          <a:lstStyle/>
          <a:p>
            <a:pPr marL="0" indent="0" algn="l">
              <a:lnSpc>
                <a:spcPts val="2200"/>
              </a:lnSpc>
              <a:buNone/>
            </a:pPr>
            <a:r>
              <a:rPr lang="en-US" sz="1750" dirty="0">
                <a:solidFill>
                  <a:srgbClr val="DAD8E9"/>
                </a:solidFill>
                <a:latin typeface="Prompt Medium" pitchFamily="34" charset="0"/>
                <a:ea typeface="Prompt Medium" pitchFamily="34" charset="-122"/>
                <a:cs typeface="Prompt Medium" pitchFamily="34" charset="-120"/>
              </a:rPr>
              <a:t>Solistlik Başarıyor</a:t>
            </a:r>
            <a:endParaRPr lang="en-US" sz="1750" dirty="0"/>
          </a:p>
        </p:txBody>
      </p:sp>
      <p:sp>
        <p:nvSpPr>
          <p:cNvPr id="14" name="Text 9"/>
          <p:cNvSpPr/>
          <p:nvPr/>
        </p:nvSpPr>
        <p:spPr>
          <a:xfrm>
            <a:off x="4877276" y="4339471"/>
            <a:ext cx="3240762" cy="627221"/>
          </a:xfrm>
          <a:prstGeom prst="rect">
            <a:avLst/>
          </a:prstGeom>
          <a:noFill/>
          <a:ln/>
        </p:spPr>
        <p:txBody>
          <a:bodyPr wrap="square" lIns="0" tIns="0" rIns="0" bIns="0" rtlCol="0" anchor="t"/>
          <a:lstStyle/>
          <a:p>
            <a:pPr marL="0" indent="0" algn="l">
              <a:lnSpc>
                <a:spcPts val="2450"/>
              </a:lnSpc>
              <a:buNone/>
            </a:pPr>
            <a:r>
              <a:rPr lang="en-US" sz="1600" dirty="0">
                <a:solidFill>
                  <a:srgbClr val="DAD8E9"/>
                </a:solidFill>
                <a:latin typeface="Mukta Light" pitchFamily="34" charset="0"/>
                <a:ea typeface="Mukta Light" pitchFamily="34" charset="-122"/>
                <a:cs typeface="Mukta Light" pitchFamily="34" charset="-120"/>
              </a:rPr>
              <a:t>Barlarda performanslar ile dikkat çekiyor</a:t>
            </a:r>
            <a:endParaRPr lang="en-US" sz="1600" dirty="0"/>
          </a:p>
        </p:txBody>
      </p:sp>
      <p:sp>
        <p:nvSpPr>
          <p:cNvPr id="15" name="Shape 10"/>
          <p:cNvSpPr/>
          <p:nvPr/>
        </p:nvSpPr>
        <p:spPr>
          <a:xfrm>
            <a:off x="814745" y="5366147"/>
            <a:ext cx="7514511" cy="1931194"/>
          </a:xfrm>
          <a:prstGeom prst="roundRect">
            <a:avLst>
              <a:gd name="adj" fmla="val 4430"/>
            </a:avLst>
          </a:prstGeom>
          <a:solidFill>
            <a:srgbClr val="542C49"/>
          </a:solidFill>
          <a:ln w="7620">
            <a:solidFill>
              <a:srgbClr val="6D4562"/>
            </a:solidFill>
            <a:prstDash val="solid"/>
          </a:ln>
        </p:spPr>
      </p:sp>
      <p:sp>
        <p:nvSpPr>
          <p:cNvPr id="16" name="Shape 11"/>
          <p:cNvSpPr/>
          <p:nvPr/>
        </p:nvSpPr>
        <p:spPr>
          <a:xfrm>
            <a:off x="1025962" y="5577364"/>
            <a:ext cx="611029" cy="611029"/>
          </a:xfrm>
          <a:prstGeom prst="roundRect">
            <a:avLst>
              <a:gd name="adj" fmla="val 14963423"/>
            </a:avLst>
          </a:prstGeom>
          <a:solidFill>
            <a:srgbClr val="A95B95"/>
          </a:solidFill>
          <a:ln/>
        </p:spPr>
      </p:sp>
      <p:pic>
        <p:nvPicPr>
          <p:cNvPr id="17"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93959" y="5745361"/>
            <a:ext cx="274915" cy="274915"/>
          </a:xfrm>
          <a:prstGeom prst="rect">
            <a:avLst/>
          </a:prstGeom>
        </p:spPr>
      </p:pic>
      <p:sp>
        <p:nvSpPr>
          <p:cNvPr id="18" name="Text 12"/>
          <p:cNvSpPr/>
          <p:nvPr/>
        </p:nvSpPr>
        <p:spPr>
          <a:xfrm>
            <a:off x="1025962" y="6376630"/>
            <a:ext cx="2329577" cy="282893"/>
          </a:xfrm>
          <a:prstGeom prst="rect">
            <a:avLst/>
          </a:prstGeom>
          <a:noFill/>
          <a:ln/>
        </p:spPr>
        <p:txBody>
          <a:bodyPr wrap="none" lIns="0" tIns="0" rIns="0" bIns="0" rtlCol="0" anchor="t"/>
          <a:lstStyle/>
          <a:p>
            <a:pPr marL="0" indent="0" algn="l">
              <a:lnSpc>
                <a:spcPts val="2200"/>
              </a:lnSpc>
              <a:buNone/>
            </a:pPr>
            <a:r>
              <a:rPr lang="en-US" sz="1750" dirty="0">
                <a:solidFill>
                  <a:srgbClr val="DAD8E9"/>
                </a:solidFill>
                <a:latin typeface="Prompt Medium" pitchFamily="34" charset="0"/>
                <a:ea typeface="Prompt Medium" pitchFamily="34" charset="-122"/>
                <a:cs typeface="Prompt Medium" pitchFamily="34" charset="-120"/>
              </a:rPr>
              <a:t>Yetenek Fark Ediliyor</a:t>
            </a:r>
            <a:endParaRPr lang="en-US" sz="1750" dirty="0"/>
          </a:p>
        </p:txBody>
      </p:sp>
      <p:sp>
        <p:nvSpPr>
          <p:cNvPr id="19" name="Text 13"/>
          <p:cNvSpPr/>
          <p:nvPr/>
        </p:nvSpPr>
        <p:spPr>
          <a:xfrm>
            <a:off x="1025962" y="6772513"/>
            <a:ext cx="7092077" cy="313611"/>
          </a:xfrm>
          <a:prstGeom prst="rect">
            <a:avLst/>
          </a:prstGeom>
          <a:noFill/>
          <a:ln/>
        </p:spPr>
        <p:txBody>
          <a:bodyPr wrap="none" lIns="0" tIns="0" rIns="0" bIns="0" rtlCol="0" anchor="t"/>
          <a:lstStyle/>
          <a:p>
            <a:pPr marL="0" indent="0" algn="l">
              <a:lnSpc>
                <a:spcPts val="2450"/>
              </a:lnSpc>
              <a:buNone/>
            </a:pPr>
            <a:r>
              <a:rPr lang="en-US" sz="1600" dirty="0">
                <a:solidFill>
                  <a:srgbClr val="DAD8E9"/>
                </a:solidFill>
                <a:latin typeface="Mukta Light" pitchFamily="34" charset="0"/>
                <a:ea typeface="Mukta Light" pitchFamily="34" charset="-122"/>
                <a:cs typeface="Mukta Light" pitchFamily="34" charset="-120"/>
              </a:rPr>
              <a:t>Göz dolduran sesi ve tarzı</a:t>
            </a:r>
            <a:endParaRPr lang="en-US" sz="1600" dirty="0"/>
          </a:p>
        </p:txBody>
      </p:sp>
      <p:pic>
        <p:nvPicPr>
          <p:cNvPr id="20" name="Resim 19">
            <a:extLst>
              <a:ext uri="{FF2B5EF4-FFF2-40B4-BE49-F238E27FC236}">
                <a16:creationId xmlns:a16="http://schemas.microsoft.com/office/drawing/2014/main" id="{CB38E349-D20F-3BD7-5E38-46C6D6857371}"/>
              </a:ext>
            </a:extLst>
          </p:cNvPr>
          <p:cNvPicPr>
            <a:picLocks noChangeAspect="1"/>
          </p:cNvPicPr>
          <p:nvPr/>
        </p:nvPicPr>
        <p:blipFill>
          <a:blip r:embed="rId7"/>
          <a:stretch>
            <a:fillRect/>
          </a:stretch>
        </p:blipFill>
        <p:spPr>
          <a:xfrm rot="10800000">
            <a:off x="12482286" y="7057258"/>
            <a:ext cx="2148114" cy="111383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81063" y="869513"/>
            <a:ext cx="5434132" cy="611981"/>
          </a:xfrm>
          <a:prstGeom prst="rect">
            <a:avLst/>
          </a:prstGeom>
          <a:noFill/>
          <a:ln/>
        </p:spPr>
        <p:txBody>
          <a:bodyPr wrap="none" lIns="0" tIns="0" rIns="0" bIns="0" rtlCol="0" anchor="t"/>
          <a:lstStyle/>
          <a:p>
            <a:pPr marL="0" indent="0" algn="l">
              <a:lnSpc>
                <a:spcPts val="4800"/>
              </a:lnSpc>
              <a:buNone/>
            </a:pPr>
            <a:r>
              <a:rPr lang="en-US" sz="3850" dirty="0">
                <a:solidFill>
                  <a:srgbClr val="C6BFEE"/>
                </a:solidFill>
                <a:latin typeface="Prompt Medium" pitchFamily="34" charset="0"/>
                <a:ea typeface="Prompt Medium" pitchFamily="34" charset="-122"/>
                <a:cs typeface="Prompt Medium" pitchFamily="34" charset="-120"/>
              </a:rPr>
              <a:t>Akademi Türkiye 2004</a:t>
            </a:r>
            <a:endParaRPr lang="en-US" sz="3850" dirty="0"/>
          </a:p>
        </p:txBody>
      </p:sp>
      <p:pic>
        <p:nvPicPr>
          <p:cNvPr id="3" name="Image 0"/>
          <p:cNvPicPr>
            <a:picLocks noChangeAspect="1"/>
          </p:cNvPicPr>
          <p:nvPr/>
        </p:nvPicPr>
        <p:blipFill>
          <a:blip r:embed="rId3"/>
          <a:srcRect/>
          <a:stretch/>
        </p:blipFill>
        <p:spPr>
          <a:xfrm>
            <a:off x="2033920" y="1481494"/>
            <a:ext cx="3710108" cy="4639509"/>
          </a:xfrm>
          <a:prstGeom prst="rect">
            <a:avLst/>
          </a:prstGeom>
        </p:spPr>
      </p:pic>
      <p:sp>
        <p:nvSpPr>
          <p:cNvPr id="4" name="Text 1"/>
          <p:cNvSpPr/>
          <p:nvPr/>
        </p:nvSpPr>
        <p:spPr>
          <a:xfrm>
            <a:off x="7591544" y="2010132"/>
            <a:ext cx="6165413" cy="1409700"/>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2004 yılında ATV'de yayınlanan Akademi Türkiye yarışması, Barış Akarsu'nun hayatının dönüm noktası oldu. Büyük ilgi gören bu yarışmaya katılan Barış, hem tarzı hem de benzersiz sesiyle dikkat çekti.</a:t>
            </a:r>
            <a:endParaRPr lang="en-US" sz="1700" dirty="0"/>
          </a:p>
        </p:txBody>
      </p:sp>
      <p:sp>
        <p:nvSpPr>
          <p:cNvPr id="5" name="Text 2"/>
          <p:cNvSpPr/>
          <p:nvPr/>
        </p:nvSpPr>
        <p:spPr>
          <a:xfrm>
            <a:off x="7591544" y="3618071"/>
            <a:ext cx="6165413" cy="1409700"/>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Yarışma boyunca sergilediği performanslar, jüri ve izleyiciler üzerinde büyük etki yarattı. Şarkılarını duyanlar, onun sahne enerjisine hayran kaldı. Nihayetinde Barış Akarsu, yarışmayı birincilikle bitirerek profesyonel müzik kariyerine resmi olarak başladı.</a:t>
            </a:r>
            <a:endParaRPr lang="en-US" sz="1700" dirty="0"/>
          </a:p>
        </p:txBody>
      </p:sp>
      <p:sp>
        <p:nvSpPr>
          <p:cNvPr id="6" name="Shape 3"/>
          <p:cNvSpPr/>
          <p:nvPr/>
        </p:nvSpPr>
        <p:spPr>
          <a:xfrm>
            <a:off x="881063" y="6423898"/>
            <a:ext cx="12868275" cy="936069"/>
          </a:xfrm>
          <a:prstGeom prst="roundRect">
            <a:avLst>
              <a:gd name="adj" fmla="val 9884"/>
            </a:avLst>
          </a:prstGeom>
          <a:solidFill>
            <a:srgbClr val="321A2C"/>
          </a:solidFill>
          <a:ln/>
        </p:spPr>
      </p:sp>
      <p:pic>
        <p:nvPicPr>
          <p:cNvPr id="7" name="Image 1" descr="preencoded.png"/>
          <p:cNvPicPr>
            <a:picLocks noChangeAspect="1"/>
          </p:cNvPicPr>
          <p:nvPr/>
        </p:nvPicPr>
        <p:blipFill>
          <a:blip r:embed="rId4"/>
          <a:stretch>
            <a:fillRect/>
          </a:stretch>
        </p:blipFill>
        <p:spPr>
          <a:xfrm>
            <a:off x="1101328" y="6750248"/>
            <a:ext cx="275273" cy="220266"/>
          </a:xfrm>
          <a:prstGeom prst="rect">
            <a:avLst/>
          </a:prstGeom>
        </p:spPr>
      </p:pic>
      <p:sp>
        <p:nvSpPr>
          <p:cNvPr id="8" name="Text 4"/>
          <p:cNvSpPr/>
          <p:nvPr/>
        </p:nvSpPr>
        <p:spPr>
          <a:xfrm>
            <a:off x="1596866" y="6699171"/>
            <a:ext cx="11932206" cy="352425"/>
          </a:xfrm>
          <a:prstGeom prst="rect">
            <a:avLst/>
          </a:prstGeom>
          <a:noFill/>
          <a:ln/>
        </p:spPr>
        <p:txBody>
          <a:bodyPr wrap="none" lIns="0" tIns="0" rIns="0" bIns="0" rtlCol="0" anchor="t"/>
          <a:lstStyle/>
          <a:p>
            <a:pPr marL="0" indent="0" algn="l">
              <a:lnSpc>
                <a:spcPts val="2750"/>
              </a:lnSpc>
              <a:buNone/>
            </a:pPr>
            <a:r>
              <a:rPr lang="en-US" sz="1700" b="1" dirty="0">
                <a:solidFill>
                  <a:srgbClr val="FFFFFF"/>
                </a:solidFill>
                <a:latin typeface="Mukta Light" pitchFamily="34" charset="0"/>
                <a:ea typeface="Mukta Light" pitchFamily="34" charset="-122"/>
                <a:cs typeface="Mukta Light" pitchFamily="34" charset="-120"/>
              </a:rPr>
              <a:t>2004 Akademi Türkiye Birincisi</a:t>
            </a:r>
            <a:r>
              <a:rPr lang="en-US" sz="1700" dirty="0">
                <a:solidFill>
                  <a:srgbClr val="FFFFFF"/>
                </a:solidFill>
                <a:latin typeface="Mukta Light" pitchFamily="34" charset="0"/>
                <a:ea typeface="Mukta Light" pitchFamily="34" charset="-122"/>
                <a:cs typeface="Mukta Light" pitchFamily="34" charset="-120"/>
              </a:rPr>
              <a:t> olarak müziğin kapısını araladı</a:t>
            </a:r>
            <a:endParaRPr lang="en-US" sz="1700" dirty="0"/>
          </a:p>
        </p:txBody>
      </p:sp>
      <p:pic>
        <p:nvPicPr>
          <p:cNvPr id="9" name="Resim 8">
            <a:extLst>
              <a:ext uri="{FF2B5EF4-FFF2-40B4-BE49-F238E27FC236}">
                <a16:creationId xmlns:a16="http://schemas.microsoft.com/office/drawing/2014/main" id="{D97B9F2E-E6DC-0A00-8A22-4014553F058D}"/>
              </a:ext>
            </a:extLst>
          </p:cNvPr>
          <p:cNvPicPr>
            <a:picLocks noChangeAspect="1"/>
          </p:cNvPicPr>
          <p:nvPr/>
        </p:nvPicPr>
        <p:blipFill>
          <a:blip r:embed="rId5"/>
          <a:stretch>
            <a:fillRect/>
          </a:stretch>
        </p:blipFill>
        <p:spPr>
          <a:xfrm flipH="1" flipV="1">
            <a:off x="12822364" y="7269514"/>
            <a:ext cx="1808035" cy="93750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73085" y="600194"/>
            <a:ext cx="7207210" cy="606266"/>
          </a:xfrm>
          <a:prstGeom prst="rect">
            <a:avLst/>
          </a:prstGeom>
          <a:noFill/>
          <a:ln/>
        </p:spPr>
        <p:txBody>
          <a:bodyPr wrap="none" lIns="0" tIns="0" rIns="0" bIns="0" rtlCol="0" anchor="t"/>
          <a:lstStyle/>
          <a:p>
            <a:pPr marL="0" indent="0" algn="l">
              <a:lnSpc>
                <a:spcPts val="4750"/>
              </a:lnSpc>
              <a:buNone/>
            </a:pPr>
            <a:r>
              <a:rPr lang="en-US" sz="3800" dirty="0">
                <a:solidFill>
                  <a:srgbClr val="C6BFEE"/>
                </a:solidFill>
                <a:latin typeface="Prompt Medium" pitchFamily="34" charset="0"/>
                <a:ea typeface="Prompt Medium" pitchFamily="34" charset="-122"/>
                <a:cs typeface="Prompt Medium" pitchFamily="34" charset="-120"/>
              </a:rPr>
              <a:t>İlk Albümleri ve Müzik Kariyeri</a:t>
            </a:r>
            <a:endParaRPr lang="en-US" sz="3800" dirty="0"/>
          </a:p>
        </p:txBody>
      </p:sp>
      <p:sp>
        <p:nvSpPr>
          <p:cNvPr id="3" name="Text 1"/>
          <p:cNvSpPr/>
          <p:nvPr/>
        </p:nvSpPr>
        <p:spPr>
          <a:xfrm>
            <a:off x="873085" y="1638895"/>
            <a:ext cx="12884229" cy="347543"/>
          </a:xfrm>
          <a:prstGeom prst="rect">
            <a:avLst/>
          </a:prstGeom>
          <a:noFill/>
          <a:ln/>
        </p:spPr>
        <p:txBody>
          <a:bodyPr wrap="none" lIns="0" tIns="0" rIns="0" bIns="0" rtlCol="0" anchor="t"/>
          <a:lstStyle/>
          <a:p>
            <a:pPr marL="0" indent="0" algn="l">
              <a:lnSpc>
                <a:spcPts val="2700"/>
              </a:lnSpc>
              <a:buNone/>
            </a:pPr>
            <a:r>
              <a:rPr lang="en-US" sz="1700" dirty="0">
                <a:solidFill>
                  <a:srgbClr val="DAD8E9"/>
                </a:solidFill>
                <a:latin typeface="Mukta Light" pitchFamily="34" charset="0"/>
                <a:ea typeface="Mukta Light" pitchFamily="34" charset="-122"/>
                <a:cs typeface="Mukta Light" pitchFamily="34" charset="-120"/>
              </a:rPr>
              <a:t>Yarışmadan sonra Barış Akarsu, hızlı bir şekilde müzik dünyasında yerini aldı. İlk albümüyle beraber birçok hit şarkıya imza attı.</a:t>
            </a:r>
            <a:endParaRPr lang="en-US" sz="1700" dirty="0"/>
          </a:p>
        </p:txBody>
      </p:sp>
      <p:pic>
        <p:nvPicPr>
          <p:cNvPr id="4" name="Image 0"/>
          <p:cNvPicPr>
            <a:picLocks noChangeAspect="1"/>
          </p:cNvPicPr>
          <p:nvPr/>
        </p:nvPicPr>
        <p:blipFill>
          <a:blip r:embed="rId3"/>
          <a:srcRect/>
          <a:stretch/>
        </p:blipFill>
        <p:spPr>
          <a:xfrm>
            <a:off x="873085" y="2229683"/>
            <a:ext cx="2962394" cy="2962394"/>
          </a:xfrm>
          <a:prstGeom prst="rect">
            <a:avLst/>
          </a:prstGeom>
        </p:spPr>
      </p:pic>
      <p:sp>
        <p:nvSpPr>
          <p:cNvPr id="5" name="Text 2"/>
          <p:cNvSpPr/>
          <p:nvPr/>
        </p:nvSpPr>
        <p:spPr>
          <a:xfrm>
            <a:off x="873085" y="5462349"/>
            <a:ext cx="2425184" cy="303133"/>
          </a:xfrm>
          <a:prstGeom prst="rect">
            <a:avLst/>
          </a:prstGeom>
          <a:noFill/>
          <a:ln/>
        </p:spPr>
        <p:txBody>
          <a:bodyPr wrap="none" lIns="0" tIns="0" rIns="0" bIns="0" rtlCol="0" anchor="t"/>
          <a:lstStyle/>
          <a:p>
            <a:pPr marL="0" indent="0" algn="l">
              <a:lnSpc>
                <a:spcPts val="2350"/>
              </a:lnSpc>
              <a:buNone/>
            </a:pPr>
            <a:r>
              <a:rPr lang="en-US" sz="1900" dirty="0">
                <a:solidFill>
                  <a:srgbClr val="DAD8E9"/>
                </a:solidFill>
                <a:latin typeface="Prompt Medium" pitchFamily="34" charset="0"/>
                <a:ea typeface="Prompt Medium" pitchFamily="34" charset="-122"/>
                <a:cs typeface="Prompt Medium" pitchFamily="34" charset="-120"/>
              </a:rPr>
              <a:t>Islak Islak (2004)</a:t>
            </a:r>
            <a:endParaRPr lang="en-US" sz="1900" dirty="0"/>
          </a:p>
        </p:txBody>
      </p:sp>
      <p:sp>
        <p:nvSpPr>
          <p:cNvPr id="6" name="Text 3"/>
          <p:cNvSpPr/>
          <p:nvPr/>
        </p:nvSpPr>
        <p:spPr>
          <a:xfrm>
            <a:off x="873085" y="5895142"/>
            <a:ext cx="4114562" cy="1390174"/>
          </a:xfrm>
          <a:prstGeom prst="rect">
            <a:avLst/>
          </a:prstGeom>
          <a:noFill/>
          <a:ln/>
        </p:spPr>
        <p:txBody>
          <a:bodyPr wrap="square" lIns="0" tIns="0" rIns="0" bIns="0" rtlCol="0" anchor="t"/>
          <a:lstStyle/>
          <a:p>
            <a:pPr marL="0" indent="0" algn="l">
              <a:lnSpc>
                <a:spcPts val="2700"/>
              </a:lnSpc>
              <a:buNone/>
            </a:pPr>
            <a:r>
              <a:rPr lang="en-US" sz="1700" dirty="0">
                <a:solidFill>
                  <a:srgbClr val="DAD8E9"/>
                </a:solidFill>
                <a:latin typeface="Mukta Light" pitchFamily="34" charset="0"/>
                <a:ea typeface="Mukta Light" pitchFamily="34" charset="-122"/>
                <a:cs typeface="Mukta Light" pitchFamily="34" charset="-120"/>
              </a:rPr>
              <a:t>İlk stüdyo albümü, yarışmadan hemen sonra yayınlandı. "Amasra", "Mavi" ve "Kimdir O" gibi sevilen parçalar içerdi. Albüm, hem ses kalitesi hem de şarkı sözleri ile dikkat çekti.</a:t>
            </a:r>
            <a:endParaRPr lang="en-US" sz="1700" dirty="0"/>
          </a:p>
        </p:txBody>
      </p:sp>
      <p:pic>
        <p:nvPicPr>
          <p:cNvPr id="7" name="Image 1"/>
          <p:cNvPicPr>
            <a:picLocks noChangeAspect="1"/>
          </p:cNvPicPr>
          <p:nvPr/>
        </p:nvPicPr>
        <p:blipFill>
          <a:blip r:embed="rId4"/>
          <a:srcRect/>
          <a:stretch/>
        </p:blipFill>
        <p:spPr>
          <a:xfrm>
            <a:off x="5257919" y="2229683"/>
            <a:ext cx="2962394" cy="2962394"/>
          </a:xfrm>
          <a:prstGeom prst="rect">
            <a:avLst/>
          </a:prstGeom>
        </p:spPr>
      </p:pic>
      <p:sp>
        <p:nvSpPr>
          <p:cNvPr id="8" name="Text 4"/>
          <p:cNvSpPr/>
          <p:nvPr/>
        </p:nvSpPr>
        <p:spPr>
          <a:xfrm>
            <a:off x="5257919" y="5462349"/>
            <a:ext cx="4114562" cy="606266"/>
          </a:xfrm>
          <a:prstGeom prst="rect">
            <a:avLst/>
          </a:prstGeom>
          <a:noFill/>
          <a:ln/>
        </p:spPr>
        <p:txBody>
          <a:bodyPr wrap="square" lIns="0" tIns="0" rIns="0" bIns="0" rtlCol="0" anchor="t"/>
          <a:lstStyle/>
          <a:p>
            <a:pPr marL="0" indent="0" algn="l">
              <a:lnSpc>
                <a:spcPts val="2350"/>
              </a:lnSpc>
              <a:buNone/>
            </a:pPr>
            <a:r>
              <a:rPr lang="en-US" sz="1900" dirty="0">
                <a:solidFill>
                  <a:srgbClr val="DAD8E9"/>
                </a:solidFill>
                <a:latin typeface="Prompt Medium" pitchFamily="34" charset="0"/>
                <a:ea typeface="Prompt Medium" pitchFamily="34" charset="-122"/>
                <a:cs typeface="Prompt Medium" pitchFamily="34" charset="-120"/>
              </a:rPr>
              <a:t>Düşmeden Bulutlarda Koşmam Gerek (2006)</a:t>
            </a:r>
            <a:endParaRPr lang="en-US" sz="1900" dirty="0"/>
          </a:p>
        </p:txBody>
      </p:sp>
      <p:sp>
        <p:nvSpPr>
          <p:cNvPr id="9" name="Text 5"/>
          <p:cNvSpPr/>
          <p:nvPr/>
        </p:nvSpPr>
        <p:spPr>
          <a:xfrm>
            <a:off x="5257919" y="6198275"/>
            <a:ext cx="4114562" cy="1390174"/>
          </a:xfrm>
          <a:prstGeom prst="rect">
            <a:avLst/>
          </a:prstGeom>
          <a:noFill/>
          <a:ln/>
        </p:spPr>
        <p:txBody>
          <a:bodyPr wrap="square" lIns="0" tIns="0" rIns="0" bIns="0" rtlCol="0" anchor="t"/>
          <a:lstStyle/>
          <a:p>
            <a:pPr marL="0" indent="0" algn="l">
              <a:lnSpc>
                <a:spcPts val="2700"/>
              </a:lnSpc>
              <a:buNone/>
            </a:pPr>
            <a:r>
              <a:rPr lang="en-US" sz="1700" dirty="0">
                <a:solidFill>
                  <a:srgbClr val="DAD8E9"/>
                </a:solidFill>
                <a:latin typeface="Mukta Light" pitchFamily="34" charset="0"/>
                <a:ea typeface="Mukta Light" pitchFamily="34" charset="-122"/>
                <a:cs typeface="Mukta Light" pitchFamily="34" charset="-120"/>
              </a:rPr>
              <a:t>Hayattayken çıkardığı son stüdyo albümü. "Vurdum En Dibe Kadar", "Yaz Demedim" ve dizisiyle özdeşleşen "Gözlerin" parçaları bu albümün öne çıkan şarkıları oldu.</a:t>
            </a:r>
            <a:endParaRPr lang="en-US" sz="1700" dirty="0"/>
          </a:p>
        </p:txBody>
      </p:sp>
      <p:pic>
        <p:nvPicPr>
          <p:cNvPr id="10" name="Image 2"/>
          <p:cNvPicPr>
            <a:picLocks noChangeAspect="1"/>
          </p:cNvPicPr>
          <p:nvPr/>
        </p:nvPicPr>
        <p:blipFill>
          <a:blip r:embed="rId5"/>
          <a:srcRect/>
          <a:stretch/>
        </p:blipFill>
        <p:spPr>
          <a:xfrm>
            <a:off x="9642753" y="2229683"/>
            <a:ext cx="2962394" cy="2962394"/>
          </a:xfrm>
          <a:prstGeom prst="rect">
            <a:avLst/>
          </a:prstGeom>
        </p:spPr>
      </p:pic>
      <p:sp>
        <p:nvSpPr>
          <p:cNvPr id="11" name="Text 6"/>
          <p:cNvSpPr/>
          <p:nvPr/>
        </p:nvSpPr>
        <p:spPr>
          <a:xfrm>
            <a:off x="9642753" y="5462349"/>
            <a:ext cx="3397925" cy="303133"/>
          </a:xfrm>
          <a:prstGeom prst="rect">
            <a:avLst/>
          </a:prstGeom>
          <a:noFill/>
          <a:ln/>
        </p:spPr>
        <p:txBody>
          <a:bodyPr wrap="none" lIns="0" tIns="0" rIns="0" bIns="0" rtlCol="0" anchor="t"/>
          <a:lstStyle/>
          <a:p>
            <a:pPr marL="0" indent="0" algn="l">
              <a:lnSpc>
                <a:spcPts val="2350"/>
              </a:lnSpc>
              <a:buNone/>
            </a:pPr>
            <a:r>
              <a:rPr lang="en-US" sz="1900" dirty="0">
                <a:solidFill>
                  <a:srgbClr val="DAD8E9"/>
                </a:solidFill>
                <a:latin typeface="Prompt Medium" pitchFamily="34" charset="0"/>
                <a:ea typeface="Prompt Medium" pitchFamily="34" charset="-122"/>
                <a:cs typeface="Prompt Medium" pitchFamily="34" charset="-120"/>
              </a:rPr>
              <a:t>Ayrılık Zamansız Gelir (2008)</a:t>
            </a:r>
            <a:endParaRPr lang="en-US" sz="1900" dirty="0"/>
          </a:p>
        </p:txBody>
      </p:sp>
      <p:sp>
        <p:nvSpPr>
          <p:cNvPr id="12" name="Text 7"/>
          <p:cNvSpPr/>
          <p:nvPr/>
        </p:nvSpPr>
        <p:spPr>
          <a:xfrm>
            <a:off x="9642753" y="5895142"/>
            <a:ext cx="4114562" cy="1737717"/>
          </a:xfrm>
          <a:prstGeom prst="rect">
            <a:avLst/>
          </a:prstGeom>
          <a:noFill/>
          <a:ln/>
        </p:spPr>
        <p:txBody>
          <a:bodyPr wrap="square" lIns="0" tIns="0" rIns="0" bIns="0" rtlCol="0" anchor="t"/>
          <a:lstStyle/>
          <a:p>
            <a:pPr marL="0" indent="0" algn="l">
              <a:lnSpc>
                <a:spcPts val="2700"/>
              </a:lnSpc>
              <a:buNone/>
            </a:pPr>
            <a:r>
              <a:rPr lang="en-US" sz="1700" dirty="0">
                <a:solidFill>
                  <a:srgbClr val="DAD8E9"/>
                </a:solidFill>
                <a:latin typeface="Mukta Light" pitchFamily="34" charset="0"/>
                <a:ea typeface="Mukta Light" pitchFamily="34" charset="-122"/>
                <a:cs typeface="Mukta Light" pitchFamily="34" charset="-120"/>
              </a:rPr>
              <a:t>Vefatından sonra yarım kalan kayıtların tamamlanmasıyla yayımlanan anıt albüm. "Resimdeki Gözyaşları" ve "Bir Sevmek Bin Defa Ölmek Demekmiş" gibi derin duyguları yansıtan şarkılar içerdi.</a:t>
            </a:r>
            <a:endParaRPr lang="en-US" sz="1700" dirty="0"/>
          </a:p>
        </p:txBody>
      </p:sp>
      <p:pic>
        <p:nvPicPr>
          <p:cNvPr id="13" name="Resim 12">
            <a:extLst>
              <a:ext uri="{FF2B5EF4-FFF2-40B4-BE49-F238E27FC236}">
                <a16:creationId xmlns:a16="http://schemas.microsoft.com/office/drawing/2014/main" id="{808607FF-68CB-5C74-109E-BD5701596A42}"/>
              </a:ext>
            </a:extLst>
          </p:cNvPr>
          <p:cNvPicPr>
            <a:picLocks noChangeAspect="1"/>
          </p:cNvPicPr>
          <p:nvPr/>
        </p:nvPicPr>
        <p:blipFill>
          <a:blip r:embed="rId6"/>
          <a:stretch>
            <a:fillRect/>
          </a:stretch>
        </p:blipFill>
        <p:spPr>
          <a:xfrm>
            <a:off x="12721262" y="7294030"/>
            <a:ext cx="1807026" cy="93697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1328588"/>
            <a:ext cx="5486400" cy="5572423"/>
          </a:xfrm>
          <a:prstGeom prst="rect">
            <a:avLst/>
          </a:prstGeom>
        </p:spPr>
      </p:pic>
      <p:sp>
        <p:nvSpPr>
          <p:cNvPr id="3" name="Text 0"/>
          <p:cNvSpPr/>
          <p:nvPr/>
        </p:nvSpPr>
        <p:spPr>
          <a:xfrm>
            <a:off x="6284714" y="703302"/>
            <a:ext cx="6276618" cy="554355"/>
          </a:xfrm>
          <a:prstGeom prst="rect">
            <a:avLst/>
          </a:prstGeom>
          <a:noFill/>
          <a:ln/>
        </p:spPr>
        <p:txBody>
          <a:bodyPr wrap="none" lIns="0" tIns="0" rIns="0" bIns="0" rtlCol="0" anchor="t"/>
          <a:lstStyle/>
          <a:p>
            <a:pPr marL="0" indent="0" algn="l">
              <a:lnSpc>
                <a:spcPts val="4350"/>
              </a:lnSpc>
              <a:buNone/>
            </a:pPr>
            <a:r>
              <a:rPr lang="en-US" sz="3450" dirty="0">
                <a:solidFill>
                  <a:srgbClr val="C6BFEE"/>
                </a:solidFill>
                <a:latin typeface="Prompt Medium" pitchFamily="34" charset="0"/>
                <a:ea typeface="Prompt Medium" pitchFamily="34" charset="-122"/>
                <a:cs typeface="Prompt Medium" pitchFamily="34" charset="-120"/>
              </a:rPr>
              <a:t>Yalancı Yarim ve Dizi Kariyeri</a:t>
            </a:r>
            <a:endParaRPr lang="en-US" sz="3450" dirty="0"/>
          </a:p>
        </p:txBody>
      </p:sp>
      <p:sp>
        <p:nvSpPr>
          <p:cNvPr id="4" name="Text 1"/>
          <p:cNvSpPr/>
          <p:nvPr/>
        </p:nvSpPr>
        <p:spPr>
          <a:xfrm>
            <a:off x="6284714" y="1528882"/>
            <a:ext cx="7547372" cy="912614"/>
          </a:xfrm>
          <a:prstGeom prst="rect">
            <a:avLst/>
          </a:prstGeom>
          <a:noFill/>
          <a:ln/>
        </p:spPr>
        <p:txBody>
          <a:bodyPr wrap="square" lIns="0" tIns="0" rIns="0" bIns="0" rtlCol="0" anchor="t"/>
          <a:lstStyle/>
          <a:p>
            <a:pPr marL="0" indent="0" algn="l">
              <a:lnSpc>
                <a:spcPts val="2350"/>
              </a:lnSpc>
              <a:buNone/>
            </a:pPr>
            <a:r>
              <a:rPr lang="en-US" sz="1550" dirty="0">
                <a:solidFill>
                  <a:srgbClr val="DAD8E9"/>
                </a:solidFill>
                <a:latin typeface="Mukta Light" pitchFamily="34" charset="0"/>
                <a:ea typeface="Mukta Light" pitchFamily="34" charset="-122"/>
                <a:cs typeface="Mukta Light" pitchFamily="34" charset="-120"/>
              </a:rPr>
              <a:t>Müziğin yanında oyunculuğa da yönelen Barış Akarsu, 2006 yılında Show TV'de yayınlanan "Yalancı Yarim" dizisinde Merve Sevi ile başrolü paylaştı. Dizi, büyük beğeniyle izlendi ve Barış'ı daha geniş kitlelerin tanımamasına neden oldu.</a:t>
            </a:r>
            <a:endParaRPr lang="en-US" sz="1550" dirty="0"/>
          </a:p>
        </p:txBody>
      </p:sp>
      <p:sp>
        <p:nvSpPr>
          <p:cNvPr id="5" name="Shape 2"/>
          <p:cNvSpPr/>
          <p:nvPr/>
        </p:nvSpPr>
        <p:spPr>
          <a:xfrm>
            <a:off x="6284714" y="2644854"/>
            <a:ext cx="7547372" cy="1134666"/>
          </a:xfrm>
          <a:prstGeom prst="roundRect">
            <a:avLst>
              <a:gd name="adj" fmla="val 9671"/>
            </a:avLst>
          </a:prstGeom>
          <a:solidFill>
            <a:srgbClr val="0B0C23">
              <a:alpha val="95000"/>
            </a:srgbClr>
          </a:solidFill>
          <a:ln w="22860">
            <a:solidFill>
              <a:srgbClr val="6D4562"/>
            </a:solidFill>
            <a:prstDash val="solid"/>
          </a:ln>
        </p:spPr>
      </p:sp>
      <p:sp>
        <p:nvSpPr>
          <p:cNvPr id="6" name="Shape 3"/>
          <p:cNvSpPr/>
          <p:nvPr/>
        </p:nvSpPr>
        <p:spPr>
          <a:xfrm>
            <a:off x="6261854" y="2644854"/>
            <a:ext cx="91440" cy="1134666"/>
          </a:xfrm>
          <a:prstGeom prst="roundRect">
            <a:avLst>
              <a:gd name="adj" fmla="val 91678"/>
            </a:avLst>
          </a:prstGeom>
          <a:solidFill>
            <a:srgbClr val="A95B95"/>
          </a:solidFill>
          <a:ln/>
        </p:spPr>
      </p:sp>
      <p:sp>
        <p:nvSpPr>
          <p:cNvPr id="7" name="Text 4"/>
          <p:cNvSpPr/>
          <p:nvPr/>
        </p:nvSpPr>
        <p:spPr>
          <a:xfrm>
            <a:off x="6575703" y="2867263"/>
            <a:ext cx="2217658" cy="277178"/>
          </a:xfrm>
          <a:prstGeom prst="rect">
            <a:avLst/>
          </a:prstGeom>
          <a:noFill/>
          <a:ln/>
        </p:spPr>
        <p:txBody>
          <a:bodyPr wrap="none" lIns="0" tIns="0" rIns="0" bIns="0" rtlCol="0" anchor="t"/>
          <a:lstStyle/>
          <a:p>
            <a:pPr marL="0" indent="0" algn="l">
              <a:lnSpc>
                <a:spcPts val="2150"/>
              </a:lnSpc>
              <a:buNone/>
            </a:pPr>
            <a:r>
              <a:rPr lang="en-US" sz="1700" dirty="0">
                <a:solidFill>
                  <a:srgbClr val="DAD8E9"/>
                </a:solidFill>
                <a:latin typeface="Prompt Medium" pitchFamily="34" charset="0"/>
                <a:ea typeface="Prompt Medium" pitchFamily="34" charset="-122"/>
                <a:cs typeface="Prompt Medium" pitchFamily="34" charset="-120"/>
              </a:rPr>
              <a:t>Dizi Başlangıcı</a:t>
            </a:r>
            <a:endParaRPr lang="en-US" sz="1700" dirty="0"/>
          </a:p>
        </p:txBody>
      </p:sp>
      <p:sp>
        <p:nvSpPr>
          <p:cNvPr id="8" name="Text 5"/>
          <p:cNvSpPr/>
          <p:nvPr/>
        </p:nvSpPr>
        <p:spPr>
          <a:xfrm>
            <a:off x="6575703" y="3252907"/>
            <a:ext cx="7033974" cy="304205"/>
          </a:xfrm>
          <a:prstGeom prst="rect">
            <a:avLst/>
          </a:prstGeom>
          <a:noFill/>
          <a:ln/>
        </p:spPr>
        <p:txBody>
          <a:bodyPr wrap="none" lIns="0" tIns="0" rIns="0" bIns="0" rtlCol="0" anchor="t"/>
          <a:lstStyle/>
          <a:p>
            <a:pPr marL="0" indent="0" algn="l">
              <a:lnSpc>
                <a:spcPts val="2350"/>
              </a:lnSpc>
              <a:buNone/>
            </a:pPr>
            <a:r>
              <a:rPr lang="en-US" sz="1550" dirty="0">
                <a:solidFill>
                  <a:srgbClr val="DAD8E9"/>
                </a:solidFill>
                <a:latin typeface="Mukta Light" pitchFamily="34" charset="0"/>
                <a:ea typeface="Mukta Light" pitchFamily="34" charset="-122"/>
                <a:cs typeface="Mukta Light" pitchFamily="34" charset="-120"/>
              </a:rPr>
              <a:t>2006 yılında "Yalancı Yarim" dizisinde başrol</a:t>
            </a:r>
            <a:endParaRPr lang="en-US" sz="1550" dirty="0"/>
          </a:p>
        </p:txBody>
      </p:sp>
      <p:sp>
        <p:nvSpPr>
          <p:cNvPr id="9" name="Shape 6"/>
          <p:cNvSpPr/>
          <p:nvPr/>
        </p:nvSpPr>
        <p:spPr>
          <a:xfrm>
            <a:off x="6284714" y="3960257"/>
            <a:ext cx="7547372" cy="1134666"/>
          </a:xfrm>
          <a:prstGeom prst="roundRect">
            <a:avLst>
              <a:gd name="adj" fmla="val 9671"/>
            </a:avLst>
          </a:prstGeom>
          <a:solidFill>
            <a:srgbClr val="0B0C23">
              <a:alpha val="95000"/>
            </a:srgbClr>
          </a:solidFill>
          <a:ln w="22860">
            <a:solidFill>
              <a:srgbClr val="6D4562"/>
            </a:solidFill>
            <a:prstDash val="solid"/>
          </a:ln>
        </p:spPr>
      </p:sp>
      <p:sp>
        <p:nvSpPr>
          <p:cNvPr id="10" name="Shape 7"/>
          <p:cNvSpPr/>
          <p:nvPr/>
        </p:nvSpPr>
        <p:spPr>
          <a:xfrm>
            <a:off x="6261854" y="3960257"/>
            <a:ext cx="91440" cy="1134666"/>
          </a:xfrm>
          <a:prstGeom prst="roundRect">
            <a:avLst>
              <a:gd name="adj" fmla="val 91678"/>
            </a:avLst>
          </a:prstGeom>
          <a:solidFill>
            <a:srgbClr val="A95B95"/>
          </a:solidFill>
          <a:ln/>
        </p:spPr>
      </p:sp>
      <p:sp>
        <p:nvSpPr>
          <p:cNvPr id="11" name="Text 8"/>
          <p:cNvSpPr/>
          <p:nvPr/>
        </p:nvSpPr>
        <p:spPr>
          <a:xfrm>
            <a:off x="6575703" y="4182666"/>
            <a:ext cx="2217658" cy="277178"/>
          </a:xfrm>
          <a:prstGeom prst="rect">
            <a:avLst/>
          </a:prstGeom>
          <a:noFill/>
          <a:ln/>
        </p:spPr>
        <p:txBody>
          <a:bodyPr wrap="none" lIns="0" tIns="0" rIns="0" bIns="0" rtlCol="0" anchor="t"/>
          <a:lstStyle/>
          <a:p>
            <a:pPr marL="0" indent="0" algn="l">
              <a:lnSpc>
                <a:spcPts val="2150"/>
              </a:lnSpc>
              <a:buNone/>
            </a:pPr>
            <a:r>
              <a:rPr lang="en-US" sz="1700" dirty="0">
                <a:solidFill>
                  <a:srgbClr val="DAD8E9"/>
                </a:solidFill>
                <a:latin typeface="Prompt Medium" pitchFamily="34" charset="0"/>
                <a:ea typeface="Prompt Medium" pitchFamily="34" charset="-122"/>
                <a:cs typeface="Prompt Medium" pitchFamily="34" charset="-120"/>
              </a:rPr>
              <a:t>Merve Sevi ile İkili</a:t>
            </a:r>
            <a:endParaRPr lang="en-US" sz="1700" dirty="0"/>
          </a:p>
        </p:txBody>
      </p:sp>
      <p:sp>
        <p:nvSpPr>
          <p:cNvPr id="12" name="Text 9"/>
          <p:cNvSpPr/>
          <p:nvPr/>
        </p:nvSpPr>
        <p:spPr>
          <a:xfrm>
            <a:off x="6575703" y="4568309"/>
            <a:ext cx="7033974" cy="304205"/>
          </a:xfrm>
          <a:prstGeom prst="rect">
            <a:avLst/>
          </a:prstGeom>
          <a:noFill/>
          <a:ln/>
        </p:spPr>
        <p:txBody>
          <a:bodyPr wrap="none" lIns="0" tIns="0" rIns="0" bIns="0" rtlCol="0" anchor="t"/>
          <a:lstStyle/>
          <a:p>
            <a:pPr marL="0" indent="0" algn="l">
              <a:lnSpc>
                <a:spcPts val="2350"/>
              </a:lnSpc>
              <a:buNone/>
            </a:pPr>
            <a:r>
              <a:rPr lang="en-US" sz="1550" dirty="0">
                <a:solidFill>
                  <a:srgbClr val="DAD8E9"/>
                </a:solidFill>
                <a:latin typeface="Mukta Light" pitchFamily="34" charset="0"/>
                <a:ea typeface="Mukta Light" pitchFamily="34" charset="-122"/>
                <a:cs typeface="Mukta Light" pitchFamily="34" charset="-120"/>
              </a:rPr>
              <a:t>Diziye başrol oyuncusu olarak katıldı</a:t>
            </a:r>
            <a:endParaRPr lang="en-US" sz="1550" dirty="0"/>
          </a:p>
        </p:txBody>
      </p:sp>
      <p:sp>
        <p:nvSpPr>
          <p:cNvPr id="13" name="Shape 10"/>
          <p:cNvSpPr/>
          <p:nvPr/>
        </p:nvSpPr>
        <p:spPr>
          <a:xfrm>
            <a:off x="6284714" y="5275659"/>
            <a:ext cx="7547372" cy="1134666"/>
          </a:xfrm>
          <a:prstGeom prst="roundRect">
            <a:avLst>
              <a:gd name="adj" fmla="val 9671"/>
            </a:avLst>
          </a:prstGeom>
          <a:solidFill>
            <a:srgbClr val="0B0C23">
              <a:alpha val="95000"/>
            </a:srgbClr>
          </a:solidFill>
          <a:ln w="22860">
            <a:solidFill>
              <a:srgbClr val="6D4562"/>
            </a:solidFill>
            <a:prstDash val="solid"/>
          </a:ln>
        </p:spPr>
      </p:sp>
      <p:sp>
        <p:nvSpPr>
          <p:cNvPr id="14" name="Shape 11"/>
          <p:cNvSpPr/>
          <p:nvPr/>
        </p:nvSpPr>
        <p:spPr>
          <a:xfrm>
            <a:off x="6261854" y="5275659"/>
            <a:ext cx="91440" cy="1134666"/>
          </a:xfrm>
          <a:prstGeom prst="roundRect">
            <a:avLst>
              <a:gd name="adj" fmla="val 91678"/>
            </a:avLst>
          </a:prstGeom>
          <a:solidFill>
            <a:srgbClr val="A95B95"/>
          </a:solidFill>
          <a:ln/>
        </p:spPr>
      </p:sp>
      <p:sp>
        <p:nvSpPr>
          <p:cNvPr id="15" name="Text 12"/>
          <p:cNvSpPr/>
          <p:nvPr/>
        </p:nvSpPr>
        <p:spPr>
          <a:xfrm>
            <a:off x="6575703" y="5498068"/>
            <a:ext cx="2407682" cy="277178"/>
          </a:xfrm>
          <a:prstGeom prst="rect">
            <a:avLst/>
          </a:prstGeom>
          <a:noFill/>
          <a:ln/>
        </p:spPr>
        <p:txBody>
          <a:bodyPr wrap="none" lIns="0" tIns="0" rIns="0" bIns="0" rtlCol="0" anchor="t"/>
          <a:lstStyle/>
          <a:p>
            <a:pPr marL="0" indent="0" algn="l">
              <a:lnSpc>
                <a:spcPts val="2150"/>
              </a:lnSpc>
              <a:buNone/>
            </a:pPr>
            <a:r>
              <a:rPr lang="en-US" sz="1700" dirty="0">
                <a:solidFill>
                  <a:srgbClr val="DAD8E9"/>
                </a:solidFill>
                <a:latin typeface="Prompt Medium" pitchFamily="34" charset="0"/>
                <a:ea typeface="Prompt Medium" pitchFamily="34" charset="-122"/>
                <a:cs typeface="Prompt Medium" pitchFamily="34" charset="-120"/>
              </a:rPr>
              <a:t>Geniş Kitlelere Ulaşma</a:t>
            </a:r>
            <a:endParaRPr lang="en-US" sz="1700" dirty="0"/>
          </a:p>
        </p:txBody>
      </p:sp>
      <p:sp>
        <p:nvSpPr>
          <p:cNvPr id="16" name="Text 13"/>
          <p:cNvSpPr/>
          <p:nvPr/>
        </p:nvSpPr>
        <p:spPr>
          <a:xfrm>
            <a:off x="6575703" y="5883712"/>
            <a:ext cx="7033974" cy="304205"/>
          </a:xfrm>
          <a:prstGeom prst="rect">
            <a:avLst/>
          </a:prstGeom>
          <a:noFill/>
          <a:ln/>
        </p:spPr>
        <p:txBody>
          <a:bodyPr wrap="none" lIns="0" tIns="0" rIns="0" bIns="0" rtlCol="0" anchor="t"/>
          <a:lstStyle/>
          <a:p>
            <a:pPr marL="0" indent="0" algn="l">
              <a:lnSpc>
                <a:spcPts val="2350"/>
              </a:lnSpc>
              <a:buNone/>
            </a:pPr>
            <a:r>
              <a:rPr lang="en-US" sz="1550" dirty="0">
                <a:solidFill>
                  <a:srgbClr val="DAD8E9"/>
                </a:solidFill>
                <a:latin typeface="Mukta Light" pitchFamily="34" charset="0"/>
                <a:ea typeface="Mukta Light" pitchFamily="34" charset="-122"/>
                <a:cs typeface="Mukta Light" pitchFamily="34" charset="-120"/>
              </a:rPr>
              <a:t>Dizinin başarısı onu daha çok izleyiciye tanıttı</a:t>
            </a:r>
            <a:endParaRPr lang="en-US" sz="1550" dirty="0"/>
          </a:p>
        </p:txBody>
      </p:sp>
      <p:sp>
        <p:nvSpPr>
          <p:cNvPr id="17" name="Text 14"/>
          <p:cNvSpPr/>
          <p:nvPr/>
        </p:nvSpPr>
        <p:spPr>
          <a:xfrm>
            <a:off x="6284714" y="6613684"/>
            <a:ext cx="7547372" cy="912614"/>
          </a:xfrm>
          <a:prstGeom prst="rect">
            <a:avLst/>
          </a:prstGeom>
          <a:noFill/>
          <a:ln/>
        </p:spPr>
        <p:txBody>
          <a:bodyPr wrap="square" lIns="0" tIns="0" rIns="0" bIns="0" rtlCol="0" anchor="t"/>
          <a:lstStyle/>
          <a:p>
            <a:pPr marL="0" indent="0" algn="l">
              <a:lnSpc>
                <a:spcPts val="2350"/>
              </a:lnSpc>
              <a:buNone/>
            </a:pPr>
            <a:r>
              <a:rPr lang="en-US" sz="1550" dirty="0">
                <a:solidFill>
                  <a:srgbClr val="DAD8E9"/>
                </a:solidFill>
                <a:latin typeface="Mukta Light" pitchFamily="34" charset="0"/>
                <a:ea typeface="Mukta Light" pitchFamily="34" charset="-122"/>
                <a:cs typeface="Mukta Light" pitchFamily="34" charset="-120"/>
              </a:rPr>
              <a:t>Dizide seslendirdiği "Gözlerin" şarkısı, hem dizi hem de albüm için tam bir hit oldu. Barış Akarsu'nun televizyondaki yüzü, müzikteki sesiyle birleşerek Türk sanat dünyasının vazgeçilmez isimlerinden biri haline geldi.</a:t>
            </a:r>
            <a:endParaRPr lang="en-US" sz="1550" dirty="0"/>
          </a:p>
        </p:txBody>
      </p:sp>
      <p:pic>
        <p:nvPicPr>
          <p:cNvPr id="18" name="Resim 17">
            <a:extLst>
              <a:ext uri="{FF2B5EF4-FFF2-40B4-BE49-F238E27FC236}">
                <a16:creationId xmlns:a16="http://schemas.microsoft.com/office/drawing/2014/main" id="{389B457B-F283-E3AF-7CB3-DB5B5202F59E}"/>
              </a:ext>
            </a:extLst>
          </p:cNvPr>
          <p:cNvPicPr>
            <a:picLocks noChangeAspect="1"/>
          </p:cNvPicPr>
          <p:nvPr/>
        </p:nvPicPr>
        <p:blipFill>
          <a:blip r:embed="rId4"/>
          <a:stretch>
            <a:fillRect/>
          </a:stretch>
        </p:blipFill>
        <p:spPr>
          <a:xfrm>
            <a:off x="12845143" y="7250992"/>
            <a:ext cx="1785257" cy="92568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58798" y="644366"/>
            <a:ext cx="6530340" cy="596503"/>
          </a:xfrm>
          <a:prstGeom prst="rect">
            <a:avLst/>
          </a:prstGeom>
          <a:noFill/>
          <a:ln/>
        </p:spPr>
        <p:txBody>
          <a:bodyPr wrap="none" lIns="0" tIns="0" rIns="0" bIns="0" rtlCol="0" anchor="t"/>
          <a:lstStyle/>
          <a:p>
            <a:pPr marL="0" indent="0" algn="l">
              <a:lnSpc>
                <a:spcPts val="4650"/>
              </a:lnSpc>
              <a:buNone/>
            </a:pPr>
            <a:r>
              <a:rPr lang="en-US" sz="3750" dirty="0">
                <a:solidFill>
                  <a:srgbClr val="C6BFEE"/>
                </a:solidFill>
                <a:latin typeface="Prompt Medium" pitchFamily="34" charset="0"/>
                <a:ea typeface="Prompt Medium" pitchFamily="34" charset="-122"/>
                <a:cs typeface="Prompt Medium" pitchFamily="34" charset="-120"/>
              </a:rPr>
              <a:t>29 Haziran 2007 - Acı Kayıp</a:t>
            </a:r>
            <a:endParaRPr lang="en-US" sz="3750" dirty="0"/>
          </a:p>
        </p:txBody>
      </p:sp>
      <p:sp>
        <p:nvSpPr>
          <p:cNvPr id="3" name="Text 1"/>
          <p:cNvSpPr/>
          <p:nvPr/>
        </p:nvSpPr>
        <p:spPr>
          <a:xfrm>
            <a:off x="858798" y="1743075"/>
            <a:ext cx="6194465" cy="1356360"/>
          </a:xfrm>
          <a:prstGeom prst="rect">
            <a:avLst/>
          </a:prstGeom>
          <a:noFill/>
          <a:ln/>
        </p:spPr>
        <p:txBody>
          <a:bodyPr wrap="square" lIns="0" tIns="0" rIns="0" bIns="0" rtlCol="0" anchor="t"/>
          <a:lstStyle/>
          <a:p>
            <a:pPr marL="0" indent="0" algn="l">
              <a:lnSpc>
                <a:spcPts val="2650"/>
              </a:lnSpc>
              <a:buNone/>
            </a:pPr>
            <a:r>
              <a:rPr lang="en-US" sz="1650" dirty="0">
                <a:solidFill>
                  <a:srgbClr val="DAD8E9"/>
                </a:solidFill>
                <a:latin typeface="Mukta Light" pitchFamily="34" charset="0"/>
                <a:ea typeface="Mukta Light" pitchFamily="34" charset="-122"/>
                <a:cs typeface="Mukta Light" pitchFamily="34" charset="-120"/>
              </a:rPr>
              <a:t>Dizi yayın hayatına devam ederken Barış Akarsu, 28'inci doğum günü olan 29 Haziran 2007 Cuma günü akşam saat 22:30 civarında Muğla'nın Bodrum ilçesine 5 km mesafe kala Torba Kavşağı'nda iki arkadaşıyla trafik kazası geçirdi.</a:t>
            </a:r>
            <a:endParaRPr lang="en-US" sz="1650" dirty="0"/>
          </a:p>
        </p:txBody>
      </p:sp>
      <p:sp>
        <p:nvSpPr>
          <p:cNvPr id="4" name="Text 2"/>
          <p:cNvSpPr/>
          <p:nvPr/>
        </p:nvSpPr>
        <p:spPr>
          <a:xfrm>
            <a:off x="858798" y="3287792"/>
            <a:ext cx="6194465" cy="1356360"/>
          </a:xfrm>
          <a:prstGeom prst="rect">
            <a:avLst/>
          </a:prstGeom>
          <a:noFill/>
          <a:ln/>
        </p:spPr>
        <p:txBody>
          <a:bodyPr wrap="square" lIns="0" tIns="0" rIns="0" bIns="0" rtlCol="0" anchor="t"/>
          <a:lstStyle/>
          <a:p>
            <a:pPr marL="0" indent="0" algn="l">
              <a:lnSpc>
                <a:spcPts val="2650"/>
              </a:lnSpc>
              <a:buNone/>
            </a:pPr>
            <a:r>
              <a:rPr lang="en-US" sz="1650" dirty="0">
                <a:solidFill>
                  <a:srgbClr val="DAD8E9"/>
                </a:solidFill>
                <a:latin typeface="Mukta Light" pitchFamily="34" charset="0"/>
                <a:ea typeface="Mukta Light" pitchFamily="34" charset="-122"/>
                <a:cs typeface="Mukta Light" pitchFamily="34" charset="-120"/>
              </a:rPr>
              <a:t>Kaza anında arkadaşları olay yerinde hayatlarını kaybetti. Barış Akarsu ise acil servise kaldırıldı ve duran kalbi çalışan sağlık ekiplerinin çabalarıyla yeniden çalıştırıldı. Ancak yoğun bakımda geçirdiği günlerin ardından 4 Temmuz 2007 günü hayatını kaybetti.</a:t>
            </a:r>
            <a:endParaRPr lang="en-US" sz="1650" dirty="0"/>
          </a:p>
        </p:txBody>
      </p:sp>
      <p:sp>
        <p:nvSpPr>
          <p:cNvPr id="6" name="Text 4"/>
          <p:cNvSpPr/>
          <p:nvPr/>
        </p:nvSpPr>
        <p:spPr>
          <a:xfrm>
            <a:off x="7644765" y="1763911"/>
            <a:ext cx="2385774" cy="298252"/>
          </a:xfrm>
          <a:prstGeom prst="rect">
            <a:avLst/>
          </a:prstGeom>
          <a:noFill/>
          <a:ln/>
        </p:spPr>
        <p:txBody>
          <a:bodyPr wrap="none" lIns="0" tIns="0" rIns="0" bIns="0" rtlCol="0" anchor="t"/>
          <a:lstStyle/>
          <a:p>
            <a:pPr marL="0" indent="0" algn="l">
              <a:lnSpc>
                <a:spcPts val="2300"/>
              </a:lnSpc>
              <a:buNone/>
            </a:pPr>
            <a:r>
              <a:rPr lang="en-US" sz="1850" dirty="0">
                <a:solidFill>
                  <a:srgbClr val="000000"/>
                </a:solidFill>
                <a:latin typeface="Prompt Medium" pitchFamily="34" charset="0"/>
                <a:ea typeface="Prompt Medium" pitchFamily="34" charset="-122"/>
                <a:cs typeface="Prompt Medium" pitchFamily="34" charset="-120"/>
              </a:rPr>
              <a:t>Kaza Tarihi</a:t>
            </a:r>
            <a:endParaRPr lang="en-US" sz="1850" dirty="0"/>
          </a:p>
        </p:txBody>
      </p:sp>
      <p:sp>
        <p:nvSpPr>
          <p:cNvPr id="7" name="Text 5"/>
          <p:cNvSpPr/>
          <p:nvPr/>
        </p:nvSpPr>
        <p:spPr>
          <a:xfrm>
            <a:off x="7644765" y="2271355"/>
            <a:ext cx="6074450" cy="339090"/>
          </a:xfrm>
          <a:prstGeom prst="rect">
            <a:avLst/>
          </a:prstGeom>
          <a:noFill/>
          <a:ln/>
        </p:spPr>
        <p:txBody>
          <a:bodyPr wrap="none" lIns="0" tIns="0" rIns="0" bIns="0" rtlCol="0" anchor="t"/>
          <a:lstStyle/>
          <a:p>
            <a:pPr marL="0" indent="0" algn="l">
              <a:lnSpc>
                <a:spcPts val="2650"/>
              </a:lnSpc>
              <a:buNone/>
            </a:pPr>
            <a:r>
              <a:rPr lang="en-US" sz="1650" dirty="0">
                <a:solidFill>
                  <a:srgbClr val="000000"/>
                </a:solidFill>
                <a:latin typeface="Mukta Light" pitchFamily="34" charset="0"/>
                <a:ea typeface="Mukta Light" pitchFamily="34" charset="-122"/>
                <a:cs typeface="Mukta Light" pitchFamily="34" charset="-120"/>
              </a:rPr>
              <a:t>29 Haziran 2007</a:t>
            </a:r>
            <a:endParaRPr lang="en-US" sz="1650" dirty="0"/>
          </a:p>
        </p:txBody>
      </p:sp>
      <p:sp>
        <p:nvSpPr>
          <p:cNvPr id="8" name="Text 6"/>
          <p:cNvSpPr/>
          <p:nvPr/>
        </p:nvSpPr>
        <p:spPr>
          <a:xfrm>
            <a:off x="7644765" y="2819638"/>
            <a:ext cx="2385774" cy="298252"/>
          </a:xfrm>
          <a:prstGeom prst="rect">
            <a:avLst/>
          </a:prstGeom>
          <a:noFill/>
          <a:ln/>
        </p:spPr>
        <p:txBody>
          <a:bodyPr wrap="none" lIns="0" tIns="0" rIns="0" bIns="0" rtlCol="0" anchor="t"/>
          <a:lstStyle/>
          <a:p>
            <a:pPr marL="0" indent="0" algn="l">
              <a:lnSpc>
                <a:spcPts val="2300"/>
              </a:lnSpc>
              <a:buNone/>
            </a:pPr>
            <a:r>
              <a:rPr lang="en-US" sz="1850" dirty="0">
                <a:solidFill>
                  <a:srgbClr val="000000"/>
                </a:solidFill>
                <a:latin typeface="Prompt Medium" pitchFamily="34" charset="0"/>
                <a:ea typeface="Prompt Medium" pitchFamily="34" charset="-122"/>
                <a:cs typeface="Prompt Medium" pitchFamily="34" charset="-120"/>
              </a:rPr>
              <a:t>Vefat Tarihi</a:t>
            </a:r>
            <a:endParaRPr lang="en-US" sz="1850" dirty="0"/>
          </a:p>
        </p:txBody>
      </p:sp>
      <p:sp>
        <p:nvSpPr>
          <p:cNvPr id="9" name="Text 7"/>
          <p:cNvSpPr/>
          <p:nvPr/>
        </p:nvSpPr>
        <p:spPr>
          <a:xfrm>
            <a:off x="7644765" y="3327083"/>
            <a:ext cx="6074450" cy="339090"/>
          </a:xfrm>
          <a:prstGeom prst="rect">
            <a:avLst/>
          </a:prstGeom>
          <a:noFill/>
          <a:ln/>
        </p:spPr>
        <p:txBody>
          <a:bodyPr wrap="none" lIns="0" tIns="0" rIns="0" bIns="0" rtlCol="0" anchor="t"/>
          <a:lstStyle/>
          <a:p>
            <a:pPr marL="0" indent="0" algn="l">
              <a:lnSpc>
                <a:spcPts val="2650"/>
              </a:lnSpc>
              <a:buNone/>
            </a:pPr>
            <a:r>
              <a:rPr lang="en-US" sz="1650" dirty="0">
                <a:solidFill>
                  <a:srgbClr val="000000"/>
                </a:solidFill>
                <a:latin typeface="Mukta Light" pitchFamily="34" charset="0"/>
                <a:ea typeface="Mukta Light" pitchFamily="34" charset="-122"/>
                <a:cs typeface="Mukta Light" pitchFamily="34" charset="-120"/>
              </a:rPr>
              <a:t>4 Temmuz 2007</a:t>
            </a:r>
            <a:endParaRPr lang="en-US" sz="1650" dirty="0"/>
          </a:p>
        </p:txBody>
      </p:sp>
      <p:sp>
        <p:nvSpPr>
          <p:cNvPr id="10" name="Text 8"/>
          <p:cNvSpPr/>
          <p:nvPr/>
        </p:nvSpPr>
        <p:spPr>
          <a:xfrm>
            <a:off x="7644765" y="3875365"/>
            <a:ext cx="2385774" cy="298252"/>
          </a:xfrm>
          <a:prstGeom prst="rect">
            <a:avLst/>
          </a:prstGeom>
          <a:noFill/>
          <a:ln/>
        </p:spPr>
        <p:txBody>
          <a:bodyPr wrap="none" lIns="0" tIns="0" rIns="0" bIns="0" rtlCol="0" anchor="t"/>
          <a:lstStyle/>
          <a:p>
            <a:pPr marL="0" indent="0" algn="l">
              <a:lnSpc>
                <a:spcPts val="2300"/>
              </a:lnSpc>
              <a:buNone/>
            </a:pPr>
            <a:r>
              <a:rPr lang="en-US" sz="1850" dirty="0">
                <a:solidFill>
                  <a:srgbClr val="000000"/>
                </a:solidFill>
                <a:latin typeface="Prompt Medium" pitchFamily="34" charset="0"/>
                <a:ea typeface="Prompt Medium" pitchFamily="34" charset="-122"/>
                <a:cs typeface="Prompt Medium" pitchFamily="34" charset="-120"/>
              </a:rPr>
              <a:t>Yaş</a:t>
            </a:r>
            <a:endParaRPr lang="en-US" sz="1850" dirty="0"/>
          </a:p>
        </p:txBody>
      </p:sp>
      <p:sp>
        <p:nvSpPr>
          <p:cNvPr id="11" name="Text 9"/>
          <p:cNvSpPr/>
          <p:nvPr/>
        </p:nvSpPr>
        <p:spPr>
          <a:xfrm>
            <a:off x="7644765" y="4382810"/>
            <a:ext cx="6074450" cy="339090"/>
          </a:xfrm>
          <a:prstGeom prst="rect">
            <a:avLst/>
          </a:prstGeom>
          <a:noFill/>
          <a:ln/>
        </p:spPr>
        <p:txBody>
          <a:bodyPr wrap="none" lIns="0" tIns="0" rIns="0" bIns="0" rtlCol="0" anchor="t"/>
          <a:lstStyle/>
          <a:p>
            <a:pPr marL="0" indent="0" algn="l">
              <a:lnSpc>
                <a:spcPts val="2650"/>
              </a:lnSpc>
              <a:buNone/>
            </a:pPr>
            <a:r>
              <a:rPr lang="en-US" sz="1650" dirty="0">
                <a:solidFill>
                  <a:srgbClr val="000000"/>
                </a:solidFill>
                <a:latin typeface="Mukta Light" pitchFamily="34" charset="0"/>
                <a:ea typeface="Mukta Light" pitchFamily="34" charset="-122"/>
                <a:cs typeface="Mukta Light" pitchFamily="34" charset="-120"/>
              </a:rPr>
              <a:t>28</a:t>
            </a:r>
            <a:endParaRPr lang="en-US" sz="1650" dirty="0"/>
          </a:p>
        </p:txBody>
      </p:sp>
      <p:sp>
        <p:nvSpPr>
          <p:cNvPr id="12" name="Shape 10"/>
          <p:cNvSpPr/>
          <p:nvPr/>
        </p:nvSpPr>
        <p:spPr>
          <a:xfrm>
            <a:off x="858798" y="5252903"/>
            <a:ext cx="12912804" cy="34409"/>
          </a:xfrm>
          <a:prstGeom prst="rect">
            <a:avLst/>
          </a:prstGeom>
          <a:solidFill>
            <a:srgbClr val="DAD8E9">
              <a:alpha val="50000"/>
            </a:srgbClr>
          </a:solidFill>
          <a:ln/>
        </p:spPr>
      </p:sp>
      <p:sp>
        <p:nvSpPr>
          <p:cNvPr id="13" name="Text 11"/>
          <p:cNvSpPr/>
          <p:nvPr/>
        </p:nvSpPr>
        <p:spPr>
          <a:xfrm>
            <a:off x="858798" y="5522647"/>
            <a:ext cx="12912804" cy="678180"/>
          </a:xfrm>
          <a:prstGeom prst="rect">
            <a:avLst/>
          </a:prstGeom>
          <a:noFill/>
          <a:ln/>
        </p:spPr>
        <p:txBody>
          <a:bodyPr wrap="square" lIns="0" tIns="0" rIns="0" bIns="0" rtlCol="0" anchor="t"/>
          <a:lstStyle/>
          <a:p>
            <a:pPr marL="0" indent="0" algn="l">
              <a:lnSpc>
                <a:spcPts val="2650"/>
              </a:lnSpc>
              <a:buNone/>
            </a:pPr>
            <a:r>
              <a:rPr lang="en-US" sz="1650" dirty="0">
                <a:solidFill>
                  <a:srgbClr val="DAD8E9"/>
                </a:solidFill>
                <a:latin typeface="Mukta Light" pitchFamily="34" charset="0"/>
                <a:ea typeface="Mukta Light" pitchFamily="34" charset="-122"/>
                <a:cs typeface="Mukta Light" pitchFamily="34" charset="-120"/>
              </a:rPr>
              <a:t>Barış Akarsu'nun ölümü, Türk müziği ve sinema dünyasını yasa boğdu. Sadece 28 yaşında kaybedilen yetenekli sanatçı, bıraktığı albümler ve şarkılarla hala anılıyor. Sanatçının vefatından sonra yayınlanan "Ayrılık Zamansız Gelir" albümü, hayranları için büyük bir değer taşıyor.</a:t>
            </a:r>
            <a:endParaRPr lang="en-US" sz="1650" dirty="0"/>
          </a:p>
        </p:txBody>
      </p:sp>
      <p:sp>
        <p:nvSpPr>
          <p:cNvPr id="14" name="Text 12"/>
          <p:cNvSpPr/>
          <p:nvPr/>
        </p:nvSpPr>
        <p:spPr>
          <a:xfrm>
            <a:off x="1180862" y="6671548"/>
            <a:ext cx="12590740" cy="678180"/>
          </a:xfrm>
          <a:prstGeom prst="rect">
            <a:avLst/>
          </a:prstGeom>
          <a:noFill/>
          <a:ln/>
        </p:spPr>
        <p:txBody>
          <a:bodyPr wrap="square" lIns="0" tIns="0" rIns="0" bIns="0" rtlCol="0" anchor="t"/>
          <a:lstStyle/>
          <a:p>
            <a:pPr marL="0" indent="0" algn="l">
              <a:lnSpc>
                <a:spcPts val="2650"/>
              </a:lnSpc>
              <a:buNone/>
            </a:pPr>
            <a:r>
              <a:rPr lang="en-US" sz="1650" i="1" dirty="0">
                <a:solidFill>
                  <a:srgbClr val="DAD8E9"/>
                </a:solidFill>
                <a:latin typeface="Mukta Light" pitchFamily="34" charset="0"/>
                <a:ea typeface="Mukta Light" pitchFamily="34" charset="-122"/>
                <a:cs typeface="Mukta Light" pitchFamily="34" charset="-120"/>
              </a:rPr>
              <a:t>"Islak Islak" albümündeki "Amasra" şarkısı, doğduğu şehre olan sevgisini yansıtırken, "Gözlerin" ise onu tüm Türkiye'ye tanıtan dizisinin ruhunu taşıdı.</a:t>
            </a:r>
            <a:endParaRPr lang="en-US" sz="1650" dirty="0"/>
          </a:p>
        </p:txBody>
      </p:sp>
      <p:sp>
        <p:nvSpPr>
          <p:cNvPr id="15" name="Shape 13"/>
          <p:cNvSpPr/>
          <p:nvPr/>
        </p:nvSpPr>
        <p:spPr>
          <a:xfrm>
            <a:off x="858798" y="6436162"/>
            <a:ext cx="30480" cy="1148953"/>
          </a:xfrm>
          <a:prstGeom prst="rect">
            <a:avLst/>
          </a:prstGeom>
          <a:solidFill>
            <a:srgbClr val="A95B95"/>
          </a:solidFill>
          <a:ln/>
        </p:spPr>
      </p:sp>
      <p:pic>
        <p:nvPicPr>
          <p:cNvPr id="16" name="Resim 15">
            <a:extLst>
              <a:ext uri="{FF2B5EF4-FFF2-40B4-BE49-F238E27FC236}">
                <a16:creationId xmlns:a16="http://schemas.microsoft.com/office/drawing/2014/main" id="{F345EB59-5707-751C-FEC0-6AF2838B83C3}"/>
              </a:ext>
            </a:extLst>
          </p:cNvPr>
          <p:cNvPicPr>
            <a:picLocks noChangeAspect="1"/>
          </p:cNvPicPr>
          <p:nvPr/>
        </p:nvPicPr>
        <p:blipFill>
          <a:blip r:embed="rId3"/>
          <a:stretch>
            <a:fillRect/>
          </a:stretch>
        </p:blipFill>
        <p:spPr>
          <a:xfrm>
            <a:off x="8375650" y="833616"/>
            <a:ext cx="5600700" cy="3190875"/>
          </a:xfrm>
          <a:prstGeom prst="rect">
            <a:avLst/>
          </a:prstGeom>
        </p:spPr>
      </p:pic>
      <p:pic>
        <p:nvPicPr>
          <p:cNvPr id="17" name="Resim 16">
            <a:extLst>
              <a:ext uri="{FF2B5EF4-FFF2-40B4-BE49-F238E27FC236}">
                <a16:creationId xmlns:a16="http://schemas.microsoft.com/office/drawing/2014/main" id="{B34383C1-893F-8FEC-DA89-1B3E78E84F55}"/>
              </a:ext>
            </a:extLst>
          </p:cNvPr>
          <p:cNvPicPr>
            <a:picLocks noChangeAspect="1"/>
          </p:cNvPicPr>
          <p:nvPr/>
        </p:nvPicPr>
        <p:blipFill>
          <a:blip r:embed="rId4"/>
          <a:stretch>
            <a:fillRect/>
          </a:stretch>
        </p:blipFill>
        <p:spPr>
          <a:xfrm flipH="1" flipV="1">
            <a:off x="12586992" y="7215230"/>
            <a:ext cx="1956287" cy="101437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Özel</PresentationFormat>
  <Paragraphs>0</Paragraphs>
  <Slides>7</Slides>
  <Notes>7</Notes>
  <HiddenSlides>0</HiddenSlides>
  <MMClips>0</MMClips>
  <ScaleCrop>false</ScaleCrop>
  <HeadingPairs>
    <vt:vector size="4" baseType="variant">
      <vt:variant>
        <vt:lpstr>Tema</vt:lpstr>
      </vt:variant>
      <vt:variant>
        <vt:i4>1</vt:i4>
      </vt:variant>
      <vt:variant>
        <vt:lpstr>Slayt Başlıkları</vt:lpstr>
      </vt:variant>
      <vt:variant>
        <vt:i4>7</vt:i4>
      </vt:variant>
    </vt:vector>
  </HeadingPairs>
  <TitlesOfParts>
    <vt:vector size="8" baseType="lpstr">
      <vt:lpstr>Office Theme</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subject/>
  <dc:creator/>
  <cp:lastModifiedBy>Ediz Sönmez</cp:lastModifiedBy>
  <cp:revision>3</cp:revision>
  <dcterms:created xsi:type="dcterms:W3CDTF">2026-03-26T18:29:04Z</dcterms:created>
  <dcterms:modified xsi:type="dcterms:W3CDTF">2026-03-26T18:59:46Z</dcterms:modified>
</cp:coreProperties>
</file>